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73" r:id="rId5"/>
    <p:sldId id="264" r:id="rId6"/>
    <p:sldId id="265" r:id="rId7"/>
    <p:sldId id="286" r:id="rId9"/>
    <p:sldId id="283" r:id="rId10"/>
    <p:sldId id="290" r:id="rId11"/>
    <p:sldId id="284" r:id="rId12"/>
    <p:sldId id="291" r:id="rId13"/>
    <p:sldId id="292" r:id="rId14"/>
    <p:sldId id="285" r:id="rId15"/>
  </p:sldIdLst>
  <p:sldSz cx="9144000" cy="6858000" type="screen4x3"/>
  <p:notesSz cx="6858000" cy="9144000"/>
  <p:custDataLst>
    <p:tags r:id="rId19"/>
  </p:custDataLst>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BAB3FF"/>
    <a:srgbClr val="9C776C"/>
    <a:srgbClr val="8A7558"/>
    <a:srgbClr val="BEAE9E"/>
    <a:srgbClr val="4B443D"/>
    <a:srgbClr val="F3B237"/>
    <a:srgbClr val="F69700"/>
    <a:srgbClr val="CBAF88"/>
    <a:srgbClr val="E39E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63" autoAdjust="0"/>
  </p:normalViewPr>
  <p:slideViewPr>
    <p:cSldViewPr showGuides="1">
      <p:cViewPr varScale="1">
        <p:scale>
          <a:sx n="71" d="100"/>
          <a:sy n="71" d="100"/>
        </p:scale>
        <p:origin x="883" y="53"/>
      </p:cViewPr>
      <p:guideLst>
        <p:guide orient="horz" pos="2186"/>
        <p:guide pos="2888"/>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3.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CF0DC89-A7F9-49F6-BA85-DD6C004DC60E}"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BB443B0F-6B18-45A0-950A-FDA5B49F6DA5}"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通过需求分析，系统主要实现查询某条路线上的所有公交站点信息、某两个公交站点之间的途经的所有线路及距离、公交换乘、用户的登录、注册等功能。</a:t>
            </a:r>
            <a:endParaRPr lang="zh-CN" altLang="en-US" dirty="0" smtClean="0"/>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标题 4"/>
          <p:cNvSpPr>
            <a:spLocks noGrp="1"/>
          </p:cNvSpPr>
          <p:nvPr>
            <p:ph type="title"/>
          </p:nvPr>
        </p:nvSpPr>
        <p:spPr>
          <a:xfrm>
            <a:off x="214605" y="236852"/>
            <a:ext cx="4161984" cy="545745"/>
          </a:xfrm>
          <a:prstGeom prst="rect">
            <a:avLst/>
          </a:prstGeom>
        </p:spPr>
        <p:txBody>
          <a:bodyPr/>
          <a:lstStyle>
            <a:lvl1pPr marL="0" indent="0">
              <a:buFont typeface="Wingdings" panose="05000000000000000000" pitchFamily="2" charset="2"/>
              <a:buNone/>
              <a:defRPr sz="2275">
                <a:solidFill>
                  <a:schemeClr val="accent2"/>
                </a:solidFill>
              </a:defRPr>
            </a:lvl1pPr>
          </a:lstStyle>
          <a:p>
            <a:r>
              <a:rPr lang="zh-CN" altLang="en-US" smtClean="0"/>
              <a:t>单击此处编辑母版标题样式</a:t>
            </a:r>
            <a:endParaRPr lang="zh-CN" alt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00100" y="2103120"/>
            <a:ext cx="356616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777740" y="2103120"/>
            <a:ext cx="356616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2" name="标题 1"/>
          <p:cNvSpPr>
            <a:spLocks noGrp="1"/>
          </p:cNvSpPr>
          <p:nvPr>
            <p:ph type="title"/>
          </p:nvPr>
        </p:nvSpPr>
        <p:spPr>
          <a:xfrm>
            <a:off x="422509" y="290968"/>
            <a:ext cx="6758726" cy="1091490"/>
          </a:xfrm>
          <a:prstGeom prst="rect">
            <a:avLst/>
          </a:prstGeom>
        </p:spPr>
        <p:txBody>
          <a:bodyPr/>
          <a:lstStyle>
            <a:lvl1pPr>
              <a:defRPr sz="2275"/>
            </a:lvl1pPr>
          </a:lstStyle>
          <a:p>
            <a:r>
              <a:rPr lang="zh-CN" altLang="en-US" smtClean="0"/>
              <a:t>单击此处编辑母版标题样式</a:t>
            </a:r>
            <a:endParaRPr lang="zh-CN" altLang="en-US"/>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02386" y="2074334"/>
            <a:ext cx="3566160" cy="640080"/>
          </a:xfrm>
        </p:spPr>
        <p:txBody>
          <a:bodyPr anchor="ctr"/>
          <a:lstStyle>
            <a:lvl1pPr marL="0" indent="0" algn="ctr">
              <a:spcBef>
                <a:spcPts val="0"/>
              </a:spcBef>
              <a:buNone/>
              <a:defRPr sz="1425" b="0">
                <a:solidFill>
                  <a:schemeClr val="tx2"/>
                </a:solidFill>
                <a:latin typeface="+mn-lt"/>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02386" y="2755898"/>
            <a:ext cx="3566160" cy="32004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780027" y="2074334"/>
            <a:ext cx="3566160" cy="640080"/>
          </a:xfrm>
        </p:spPr>
        <p:txBody>
          <a:bodyPr anchor="ctr"/>
          <a:lstStyle>
            <a:lvl1pPr marL="0" indent="0" algn="ctr">
              <a:spcBef>
                <a:spcPts val="0"/>
              </a:spcBef>
              <a:buNone/>
              <a:defRPr sz="1425" b="0">
                <a:solidFill>
                  <a:schemeClr val="tx2"/>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780027" y="2756581"/>
            <a:ext cx="3566160" cy="32004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Date Placeholder 1"/>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Footer Placeholder 2"/>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矩形 8"/>
          <p:cNvSpPr/>
          <p:nvPr/>
        </p:nvSpPr>
        <p:spPr>
          <a:xfrm>
            <a:off x="211981" y="836712"/>
            <a:ext cx="3837110" cy="34109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a:prstGeom prst="rect">
            <a:avLst/>
          </a:prstGeo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762000"/>
            <a:ext cx="6057900" cy="5257800"/>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1_标题幻灯片">
    <p:spTree>
      <p:nvGrpSpPr>
        <p:cNvPr id="1" name=""/>
        <p:cNvGrpSpPr/>
        <p:nvPr/>
      </p:nvGrpSpPr>
      <p:grpSpPr>
        <a:xfrm>
          <a:off x="0" y="0"/>
          <a:ext cx="0" cy="0"/>
          <a:chOff x="0" y="0"/>
          <a:chExt cx="0" cy="0"/>
        </a:xfrm>
      </p:grpSpPr>
      <p:pic>
        <p:nvPicPr>
          <p:cNvPr id="2"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0894" y="-13536"/>
            <a:ext cx="3863106" cy="923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1"/>
          <p:cNvPicPr>
            <a:picLocks noChangeAspect="1"/>
          </p:cNvPicPr>
          <p:nvPr/>
        </p:nvPicPr>
        <p:blipFill>
          <a:blip r:embed="rId2">
            <a:extLst>
              <a:ext uri="{28A0092B-C50C-407E-A947-70E740481C1C}">
                <a14:useLocalDpi xmlns:a14="http://schemas.microsoft.com/office/drawing/2010/main" val="0"/>
              </a:ext>
            </a:extLst>
          </a:blip>
          <a:srcRect b="76146"/>
          <a:stretch>
            <a:fillRect/>
          </a:stretch>
        </p:blipFill>
        <p:spPr bwMode="auto">
          <a:xfrm>
            <a:off x="0" y="2686050"/>
            <a:ext cx="91440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0894" y="-13536"/>
            <a:ext cx="3863106" cy="923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3"/>
          <p:cNvPicPr>
            <a:picLocks noChangeAspect="1"/>
          </p:cNvPicPr>
          <p:nvPr/>
        </p:nvPicPr>
        <p:blipFill>
          <a:blip r:embed="rId2">
            <a:extLst>
              <a:ext uri="{28A0092B-C50C-407E-A947-70E740481C1C}">
                <a14:useLocalDpi xmlns:a14="http://schemas.microsoft.com/office/drawing/2010/main" val="0"/>
              </a:ext>
            </a:extLst>
          </a:blip>
          <a:srcRect b="76146"/>
          <a:stretch>
            <a:fillRect/>
          </a:stretch>
        </p:blipFill>
        <p:spPr bwMode="auto">
          <a:xfrm>
            <a:off x="0" y="2686050"/>
            <a:ext cx="91440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20"/>
          <p:cNvSpPr>
            <a:spLocks noGrp="1"/>
          </p:cNvSpPr>
          <p:nvPr>
            <p:ph type="ftr" sz="quarter" idx="10"/>
          </p:nvPr>
        </p:nvSpPr>
        <p:spPr>
          <a:xfrm>
            <a:off x="1105356" y="5211178"/>
            <a:ext cx="4428191" cy="228600"/>
          </a:xfrm>
        </p:spPr>
        <p:txBody>
          <a:bodyPr/>
          <a:lstStyle>
            <a:lvl1pPr algn="l">
              <a:defRPr sz="675" dirty="0">
                <a:solidFill>
                  <a:schemeClr val="tx1">
                    <a:lumMod val="75000"/>
                    <a:lumOff val="2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21"/>
          <p:cNvSpPr>
            <a:spLocks noGrp="1"/>
          </p:cNvSpPr>
          <p:nvPr>
            <p:ph type="sldNum" sz="quarter" idx="11"/>
          </p:nvPr>
        </p:nvSpPr>
        <p:spPr>
          <a:xfrm>
            <a:off x="6455053" y="5212682"/>
            <a:ext cx="1583591" cy="228600"/>
          </a:xfrm>
        </p:spPr>
        <p:txBody>
          <a:bodyPr/>
          <a:lstStyle>
            <a:lvl1pPr>
              <a:defRPr dirty="0">
                <a:solidFill>
                  <a:schemeClr val="tx1">
                    <a:lumMod val="75000"/>
                    <a:lumOff val="2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7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8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2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5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6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7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9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25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31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3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34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40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64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65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66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68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69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70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1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2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3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4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5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76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77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78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两栏内容">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00100" y="2103120"/>
            <a:ext cx="356616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777740" y="2103120"/>
            <a:ext cx="356616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02386" y="2074334"/>
            <a:ext cx="3566160" cy="640080"/>
          </a:xfrm>
        </p:spPr>
        <p:txBody>
          <a:bodyPr anchor="ctr"/>
          <a:lstStyle>
            <a:lvl1pPr marL="0" indent="0" algn="ctr">
              <a:spcBef>
                <a:spcPts val="0"/>
              </a:spcBef>
              <a:buNone/>
              <a:defRPr sz="1425" b="0">
                <a:solidFill>
                  <a:schemeClr val="tx2"/>
                </a:solidFill>
                <a:latin typeface="+mn-lt"/>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02386" y="2755898"/>
            <a:ext cx="3566160" cy="32004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780027" y="2074334"/>
            <a:ext cx="3566160" cy="640080"/>
          </a:xfrm>
        </p:spPr>
        <p:txBody>
          <a:bodyPr anchor="ctr"/>
          <a:lstStyle>
            <a:lvl1pPr marL="0" indent="0" algn="ctr">
              <a:spcBef>
                <a:spcPts val="0"/>
              </a:spcBef>
              <a:buNone/>
              <a:defRPr sz="1425" b="0">
                <a:solidFill>
                  <a:schemeClr val="tx2"/>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780027" y="2756581"/>
            <a:ext cx="3566160" cy="32004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仅标题">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3_标题幻灯片">
    <p:spTree>
      <p:nvGrpSpPr>
        <p:cNvPr id="1" name=""/>
        <p:cNvGrpSpPr/>
        <p:nvPr/>
      </p:nvGrpSpPr>
      <p:grpSpPr>
        <a:xfrm>
          <a:off x="0" y="0"/>
          <a:ext cx="0" cy="0"/>
          <a:chOff x="0" y="0"/>
          <a:chExt cx="0" cy="0"/>
        </a:xfrm>
      </p:grpSpPr>
      <p:pic>
        <p:nvPicPr>
          <p:cNvPr id="2"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0894" y="-13536"/>
            <a:ext cx="3863106" cy="923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1"/>
          <p:cNvPicPr>
            <a:picLocks noChangeAspect="1"/>
          </p:cNvPicPr>
          <p:nvPr/>
        </p:nvPicPr>
        <p:blipFill>
          <a:blip r:embed="rId2">
            <a:extLst>
              <a:ext uri="{28A0092B-C50C-407E-A947-70E740481C1C}">
                <a14:useLocalDpi xmlns:a14="http://schemas.microsoft.com/office/drawing/2010/main" val="0"/>
              </a:ext>
            </a:extLst>
          </a:blip>
          <a:srcRect b="76146"/>
          <a:stretch>
            <a:fillRect/>
          </a:stretch>
        </p:blipFill>
        <p:spPr bwMode="auto">
          <a:xfrm>
            <a:off x="0" y="2686050"/>
            <a:ext cx="91440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20"/>
          <p:cNvSpPr>
            <a:spLocks noGrp="1"/>
          </p:cNvSpPr>
          <p:nvPr>
            <p:ph type="ftr" sz="quarter" idx="10"/>
          </p:nvPr>
        </p:nvSpPr>
        <p:spPr>
          <a:xfrm>
            <a:off x="1105356" y="5211178"/>
            <a:ext cx="4428191" cy="228600"/>
          </a:xfrm>
        </p:spPr>
        <p:txBody>
          <a:bodyPr/>
          <a:lstStyle>
            <a:lvl1pPr algn="l">
              <a:defRPr sz="675" dirty="0">
                <a:solidFill>
                  <a:schemeClr val="tx1">
                    <a:lumMod val="75000"/>
                    <a:lumOff val="2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21"/>
          <p:cNvSpPr>
            <a:spLocks noGrp="1"/>
          </p:cNvSpPr>
          <p:nvPr>
            <p:ph type="sldNum" sz="quarter" idx="11"/>
          </p:nvPr>
        </p:nvSpPr>
        <p:spPr>
          <a:xfrm>
            <a:off x="6455053" y="5212682"/>
            <a:ext cx="1583591" cy="228600"/>
          </a:xfrm>
        </p:spPr>
        <p:txBody>
          <a:bodyPr/>
          <a:lstStyle>
            <a:lvl1pPr>
              <a:defRPr dirty="0">
                <a:solidFill>
                  <a:schemeClr val="tx1">
                    <a:lumMod val="75000"/>
                    <a:lumOff val="2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6" Type="http://schemas.openxmlformats.org/officeDocument/2006/relationships/theme" Target="../theme/theme1.xml"/><Relationship Id="rId45" Type="http://schemas.openxmlformats.org/officeDocument/2006/relationships/image" Target="../media/image3.png"/><Relationship Id="rId44" Type="http://schemas.openxmlformats.org/officeDocument/2006/relationships/image" Target="../media/image2.png"/><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80877" y="1494924"/>
            <a:ext cx="7544617" cy="3932823"/>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205281" y="6307556"/>
            <a:ext cx="2057315" cy="273718"/>
          </a:xfrm>
          <a:prstGeom prst="rect">
            <a:avLst/>
          </a:prstGeom>
        </p:spPr>
        <p:txBody>
          <a:bodyPr vert="horz" lIns="91440" tIns="45720" rIns="91440" bIns="45720" rtlCol="0" anchor="b"/>
          <a:lstStyle>
            <a:lvl1pPr algn="l" eaLnBrk="1" fontAlgn="auto" hangingPunct="1">
              <a:spcBef>
                <a:spcPts val="0"/>
              </a:spcBef>
              <a:spcAft>
                <a:spcPts val="0"/>
              </a:spcAft>
              <a:defRPr sz="750">
                <a:solidFill>
                  <a:schemeClr val="tx1">
                    <a:lumMod val="75000"/>
                    <a:lumOff val="2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7B5FA0D-E745-4884-98BC-44C1A482E3D9}"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2617889" y="6307556"/>
            <a:ext cx="3908222" cy="273718"/>
          </a:xfrm>
          <a:prstGeom prst="rect">
            <a:avLst/>
          </a:prstGeom>
        </p:spPr>
        <p:txBody>
          <a:bodyPr vert="horz" lIns="91440" tIns="45720" rIns="91440" bIns="45720" rtlCol="0" anchor="b"/>
          <a:lstStyle>
            <a:lvl1pPr algn="ctr" eaLnBrk="1" fontAlgn="auto" hangingPunct="1">
              <a:spcBef>
                <a:spcPts val="0"/>
              </a:spcBef>
              <a:spcAft>
                <a:spcPts val="0"/>
              </a:spcAft>
              <a:defRPr sz="750">
                <a:solidFill>
                  <a:schemeClr val="tx1">
                    <a:lumMod val="75000"/>
                    <a:lumOff val="2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852538" y="6307556"/>
            <a:ext cx="1097461" cy="273718"/>
          </a:xfrm>
          <a:prstGeom prst="rect">
            <a:avLst/>
          </a:prstGeom>
        </p:spPr>
        <p:txBody>
          <a:bodyPr vert="horz" lIns="91440" tIns="45720" rIns="91440" bIns="45720" rtlCol="0" anchor="b"/>
          <a:lstStyle>
            <a:lvl1pPr algn="r" eaLnBrk="1" fontAlgn="auto" hangingPunct="1">
              <a:spcBef>
                <a:spcPts val="0"/>
              </a:spcBef>
              <a:spcAft>
                <a:spcPts val="0"/>
              </a:spcAft>
              <a:defRPr sz="750" smtClean="0">
                <a:solidFill>
                  <a:schemeClr val="tx1">
                    <a:lumMod val="75000"/>
                    <a:lumOff val="25000"/>
                  </a:schemeClr>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EB1639B-3A8C-4852-A1FD-C240F7B61E22}"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0" name="图片 7"/>
          <p:cNvPicPr>
            <a:picLocks noChangeAspect="1"/>
          </p:cNvPicPr>
          <p:nvPr/>
        </p:nvPicPr>
        <p:blipFill>
          <a:blip r:embed="rId44">
            <a:extLst>
              <a:ext uri="{28A0092B-C50C-407E-A947-70E740481C1C}">
                <a14:useLocalDpi xmlns:a14="http://schemas.microsoft.com/office/drawing/2010/main" val="0"/>
              </a:ext>
            </a:extLst>
          </a:blip>
          <a:srcRect/>
          <a:stretch>
            <a:fillRect/>
          </a:stretch>
        </p:blipFill>
        <p:spPr bwMode="auto">
          <a:xfrm>
            <a:off x="69931" y="6328611"/>
            <a:ext cx="9074069" cy="529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图片 8"/>
          <p:cNvPicPr>
            <a:picLocks noChangeAspect="1"/>
          </p:cNvPicPr>
          <p:nvPr/>
        </p:nvPicPr>
        <p:blipFill>
          <a:blip r:embed="rId45">
            <a:extLst>
              <a:ext uri="{28A0092B-C50C-407E-A947-70E740481C1C}">
                <a14:useLocalDpi xmlns:a14="http://schemas.microsoft.com/office/drawing/2010/main" val="0"/>
              </a:ext>
            </a:extLst>
          </a:blip>
          <a:srcRect/>
          <a:stretch>
            <a:fillRect/>
          </a:stretch>
        </p:blipFill>
        <p:spPr bwMode="auto">
          <a:xfrm>
            <a:off x="274084" y="959519"/>
            <a:ext cx="3638651" cy="8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图片 10"/>
          <p:cNvPicPr>
            <a:picLocks noChangeAspect="1"/>
          </p:cNvPicPr>
          <p:nvPr/>
        </p:nvPicPr>
        <p:blipFill>
          <a:blip r:embed="rId44">
            <a:extLst>
              <a:ext uri="{28A0092B-C50C-407E-A947-70E740481C1C}">
                <a14:useLocalDpi xmlns:a14="http://schemas.microsoft.com/office/drawing/2010/main" val="0"/>
              </a:ext>
            </a:extLst>
          </a:blip>
          <a:srcRect/>
          <a:stretch>
            <a:fillRect/>
          </a:stretch>
        </p:blipFill>
        <p:spPr bwMode="auto">
          <a:xfrm>
            <a:off x="69931" y="6328611"/>
            <a:ext cx="9074069" cy="529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Lst>
  <p:timing>
    <p:tnLst>
      <p:par>
        <p:cTn id="1" dur="indefinite" restart="never" nodeType="tmRoot"/>
      </p:par>
    </p:tnLst>
  </p:timing>
  <p:hf sldNum="0" hdr="0" ftr="0" dt="0"/>
  <p:txStyles>
    <p:titleStyle>
      <a:lvl1pPr algn="l" defTabSz="685800" rtl="0" eaLnBrk="1" fontAlgn="base" hangingPunct="1">
        <a:lnSpc>
          <a:spcPct val="90000"/>
        </a:lnSpc>
        <a:spcBef>
          <a:spcPct val="0"/>
        </a:spcBef>
        <a:spcAft>
          <a:spcPct val="0"/>
        </a:spcAft>
        <a:defRPr lang="en-US" sz="3555" kern="1200" dirty="0">
          <a:solidFill>
            <a:srgbClr val="262626"/>
          </a:solidFill>
          <a:latin typeface="+mj-lt"/>
          <a:ea typeface="+mn-ea"/>
          <a:cs typeface="+mn-cs"/>
        </a:defRPr>
      </a:lvl1pPr>
      <a:lvl2pPr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2pPr>
      <a:lvl3pPr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3pPr>
      <a:lvl4pPr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4pPr>
      <a:lvl5pPr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5pPr>
      <a:lvl6pPr marL="325120"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6pPr>
      <a:lvl7pPr marL="649605"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7pPr>
      <a:lvl8pPr marL="974725"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8pPr>
      <a:lvl9pPr marL="1299210" algn="l" defTabSz="685800" rtl="0" eaLnBrk="1" fontAlgn="base" hangingPunct="1">
        <a:lnSpc>
          <a:spcPct val="90000"/>
        </a:lnSpc>
        <a:spcBef>
          <a:spcPct val="0"/>
        </a:spcBef>
        <a:spcAft>
          <a:spcPct val="0"/>
        </a:spcAft>
        <a:defRPr sz="3555">
          <a:solidFill>
            <a:srgbClr val="262626"/>
          </a:solidFill>
          <a:latin typeface="Century Gothic" panose="020B0502020202020204" pitchFamily="34" charset="0"/>
        </a:defRPr>
      </a:lvl9pPr>
    </p:titleStyle>
    <p:bodyStyle>
      <a:lvl1pPr marL="136525" indent="-136525" algn="l" defTabSz="685800" rtl="0" eaLnBrk="1" fontAlgn="base" hangingPunct="1">
        <a:spcBef>
          <a:spcPts val="675"/>
        </a:spcBef>
        <a:spcAft>
          <a:spcPct val="0"/>
        </a:spcAft>
        <a:buClr>
          <a:srgbClr val="262626"/>
        </a:buClr>
        <a:buFont typeface="Garamond" panose="02020404030301010803" pitchFamily="18" charset="0"/>
        <a:buChar char="◦"/>
        <a:defRPr sz="1350" kern="1200">
          <a:solidFill>
            <a:schemeClr val="tx1"/>
          </a:solidFill>
          <a:latin typeface="+mn-lt"/>
          <a:ea typeface="+mn-ea"/>
          <a:cs typeface="+mn-cs"/>
        </a:defRPr>
      </a:lvl1pPr>
      <a:lvl2pPr marL="342900" indent="-136525" algn="l" defTabSz="685800" rtl="0" eaLnBrk="1" fontAlgn="base" hangingPunct="1">
        <a:spcBef>
          <a:spcPts val="375"/>
        </a:spcBef>
        <a:spcAft>
          <a:spcPct val="0"/>
        </a:spcAft>
        <a:buClr>
          <a:srgbClr val="262626"/>
        </a:buClr>
        <a:buFont typeface="Garamond" panose="02020404030301010803" pitchFamily="18" charset="0"/>
        <a:buChar char="◦"/>
        <a:defRPr sz="1135" kern="1200">
          <a:solidFill>
            <a:schemeClr val="tx1"/>
          </a:solidFill>
          <a:latin typeface="+mn-lt"/>
          <a:ea typeface="+mn-ea"/>
          <a:cs typeface="+mn-cs"/>
        </a:defRPr>
      </a:lvl2pPr>
      <a:lvl3pPr marL="548005" indent="-136525" algn="l" defTabSz="685800" rtl="0" eaLnBrk="1" fontAlgn="base" hangingPunct="1">
        <a:spcBef>
          <a:spcPts val="375"/>
        </a:spcBef>
        <a:spcAft>
          <a:spcPct val="0"/>
        </a:spcAft>
        <a:buClr>
          <a:srgbClr val="262626"/>
        </a:buClr>
        <a:buFont typeface="Garamond" panose="02020404030301010803" pitchFamily="18" charset="0"/>
        <a:buChar char="◦"/>
        <a:defRPr sz="995" kern="1200">
          <a:solidFill>
            <a:schemeClr val="tx1"/>
          </a:solidFill>
          <a:latin typeface="+mn-lt"/>
          <a:ea typeface="+mn-ea"/>
          <a:cs typeface="+mn-cs"/>
        </a:defRPr>
      </a:lvl3pPr>
      <a:lvl4pPr marL="753745" indent="-136525" algn="l" defTabSz="685800" rtl="0" eaLnBrk="1" fontAlgn="base" hangingPunct="1">
        <a:spcBef>
          <a:spcPts val="375"/>
        </a:spcBef>
        <a:spcAft>
          <a:spcPct val="0"/>
        </a:spcAft>
        <a:buClr>
          <a:srgbClr val="262626"/>
        </a:buClr>
        <a:buFont typeface="Garamond" panose="02020404030301010803" pitchFamily="18" charset="0"/>
        <a:buChar char="◦"/>
        <a:defRPr sz="995" kern="1200">
          <a:solidFill>
            <a:schemeClr val="tx1"/>
          </a:solidFill>
          <a:latin typeface="+mn-lt"/>
          <a:ea typeface="+mn-ea"/>
          <a:cs typeface="+mn-cs"/>
        </a:defRPr>
      </a:lvl4pPr>
      <a:lvl5pPr marL="960120" indent="-136525" algn="l" defTabSz="685800" rtl="0" eaLnBrk="1" fontAlgn="base" hangingPunct="1">
        <a:spcBef>
          <a:spcPts val="375"/>
        </a:spcBef>
        <a:spcAft>
          <a:spcPct val="0"/>
        </a:spcAft>
        <a:buClr>
          <a:srgbClr val="262626"/>
        </a:buClr>
        <a:buFont typeface="Garamond" panose="02020404030301010803" pitchFamily="18" charset="0"/>
        <a:buChar char="◦"/>
        <a:defRPr sz="995" kern="1200">
          <a:solidFill>
            <a:schemeClr val="tx1"/>
          </a:solidFill>
          <a:latin typeface="+mn-lt"/>
          <a:ea typeface="+mn-ea"/>
          <a:cs typeface="+mn-cs"/>
        </a:defRPr>
      </a:lvl5pPr>
      <a:lvl6pPr marL="1200150" indent="-171450" algn="l" defTabSz="685800" rtl="0" eaLnBrk="1" latinLnBrk="0" hangingPunct="1">
        <a:lnSpc>
          <a:spcPct val="100000"/>
        </a:lnSpc>
        <a:spcBef>
          <a:spcPts val="375"/>
        </a:spcBef>
        <a:buClr>
          <a:schemeClr val="tx1">
            <a:lumMod val="85000"/>
            <a:lumOff val="15000"/>
          </a:schemeClr>
        </a:buClr>
        <a:buFont typeface="Garamond" panose="02020404030301010803" pitchFamily="18" charset="0"/>
        <a:buChar char="◦"/>
        <a:defRPr sz="1050" kern="1200">
          <a:solidFill>
            <a:schemeClr val="tx1"/>
          </a:solidFill>
          <a:latin typeface="+mn-lt"/>
          <a:ea typeface="+mn-ea"/>
          <a:cs typeface="+mn-cs"/>
        </a:defRPr>
      </a:lvl6pPr>
      <a:lvl7pPr marL="1424940" indent="-171450" algn="l" defTabSz="685800" rtl="0" eaLnBrk="1" latinLnBrk="0" hangingPunct="1">
        <a:lnSpc>
          <a:spcPct val="100000"/>
        </a:lnSpc>
        <a:spcBef>
          <a:spcPts val="375"/>
        </a:spcBef>
        <a:buClr>
          <a:schemeClr val="tx1">
            <a:lumMod val="85000"/>
            <a:lumOff val="15000"/>
          </a:schemeClr>
        </a:buClr>
        <a:buFont typeface="Garamond" panose="02020404030301010803" pitchFamily="18" charset="0"/>
        <a:buChar char="◦"/>
        <a:defRPr sz="1050" kern="1200">
          <a:solidFill>
            <a:schemeClr val="tx1"/>
          </a:solidFill>
          <a:latin typeface="+mn-lt"/>
          <a:ea typeface="+mn-ea"/>
          <a:cs typeface="+mn-cs"/>
        </a:defRPr>
      </a:lvl7pPr>
      <a:lvl8pPr marL="1649730" indent="-171450" algn="l" defTabSz="685800" rtl="0" eaLnBrk="1" latinLnBrk="0" hangingPunct="1">
        <a:lnSpc>
          <a:spcPct val="100000"/>
        </a:lnSpc>
        <a:spcBef>
          <a:spcPts val="375"/>
        </a:spcBef>
        <a:buClr>
          <a:schemeClr val="tx1">
            <a:lumMod val="85000"/>
            <a:lumOff val="15000"/>
          </a:schemeClr>
        </a:buClr>
        <a:buFont typeface="Garamond" panose="02020404030301010803" pitchFamily="18" charset="0"/>
        <a:buChar char="◦"/>
        <a:defRPr sz="1050" kern="1200">
          <a:solidFill>
            <a:schemeClr val="tx1"/>
          </a:solidFill>
          <a:latin typeface="+mn-lt"/>
          <a:ea typeface="+mn-ea"/>
          <a:cs typeface="+mn-cs"/>
        </a:defRPr>
      </a:lvl8pPr>
      <a:lvl9pPr marL="1875155" indent="-171450" algn="l" defTabSz="685800" rtl="0" eaLnBrk="1" latinLnBrk="0" hangingPunct="1">
        <a:lnSpc>
          <a:spcPct val="100000"/>
        </a:lnSpc>
        <a:spcBef>
          <a:spcPts val="375"/>
        </a:spcBef>
        <a:buClr>
          <a:schemeClr val="tx1">
            <a:lumMod val="85000"/>
            <a:lumOff val="15000"/>
          </a:schemeClr>
        </a:buClr>
        <a:buFont typeface="Garamond" panose="02020404030301010803" pitchFamily="18"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a:xfrm>
          <a:off x="0" y="0"/>
          <a:ext cx="0" cy="0"/>
          <a:chOff x="0" y="0"/>
          <a:chExt cx="0" cy="0"/>
        </a:xfrm>
      </p:grpSpPr>
      <p:sp>
        <p:nvSpPr>
          <p:cNvPr id="22" name="Shape 74"/>
          <p:cNvSpPr txBox="1"/>
          <p:nvPr/>
        </p:nvSpPr>
        <p:spPr>
          <a:xfrm>
            <a:off x="544195" y="1423988"/>
            <a:ext cx="5616575" cy="936625"/>
          </a:xfrm>
          <a:prstGeom prst="rect">
            <a:avLst/>
          </a:prstGeom>
          <a:ln w="3175">
            <a:miter lim="400000"/>
          </a:ln>
        </p:spPr>
        <p:txBody>
          <a:bodyPr lIns="38100" tIns="38100" rIns="38100" bIns="38100">
            <a:normAutofit/>
          </a:bodyPr>
          <a:lstStyle>
            <a:lvl1pPr marL="0" marR="0" indent="0" algn="l" defTabSz="825500" rtl="0" latinLnBrk="0">
              <a:lnSpc>
                <a:spcPct val="100000"/>
              </a:lnSpc>
              <a:spcBef>
                <a:spcPts val="0"/>
              </a:spcBef>
              <a:spcAft>
                <a:spcPts val="0"/>
              </a:spcAft>
              <a:buClrTx/>
              <a:buSzTx/>
              <a:buFontTx/>
              <a:buNone/>
              <a:defRPr sz="8400" b="0" i="0" u="none" strike="noStrike" cap="none" spc="0" baseline="0">
                <a:ln>
                  <a:noFill/>
                </a:ln>
                <a:solidFill>
                  <a:srgbClr val="FFFFFF"/>
                </a:solidFill>
                <a:uFillTx/>
                <a:latin typeface="Roboto Bold"/>
                <a:ea typeface="Roboto Bold"/>
                <a:cs typeface="Roboto Bold"/>
                <a:sym typeface="Roboto Bold"/>
              </a:defRPr>
            </a:lvl1pPr>
            <a:lvl2pPr marL="0" marR="0" indent="2286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2pPr>
            <a:lvl3pPr marL="0" marR="0" indent="4572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3pPr>
            <a:lvl4pPr marL="0" marR="0" indent="6858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4pPr>
            <a:lvl5pPr marL="0" marR="0" indent="9144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5pPr>
            <a:lvl6pPr marL="0" marR="0" indent="11430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6pPr>
            <a:lvl7pPr marL="0" marR="0" indent="13716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7pPr>
            <a:lvl8pPr marL="0" marR="0" indent="16002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8pPr>
            <a:lvl9pPr marL="0" marR="0" indent="1828800" algn="l" defTabSz="825500" rtl="0" latinLnBrk="0">
              <a:lnSpc>
                <a:spcPct val="100000"/>
              </a:lnSpc>
              <a:spcBef>
                <a:spcPts val="0"/>
              </a:spcBef>
              <a:spcAft>
                <a:spcPts val="0"/>
              </a:spcAft>
              <a:buClrTx/>
              <a:buSzTx/>
              <a:buFontTx/>
              <a:buNone/>
              <a:defRPr sz="2400" b="0" i="0" u="none" strike="noStrike" cap="none" spc="0" baseline="0">
                <a:ln>
                  <a:noFill/>
                </a:ln>
                <a:solidFill>
                  <a:srgbClr val="525860"/>
                </a:solidFill>
                <a:uFillTx/>
                <a:latin typeface="+mj-lt"/>
                <a:ea typeface="+mj-ea"/>
                <a:cs typeface="+mj-cs"/>
                <a:sym typeface="Roboto Regular"/>
              </a:defRPr>
            </a:lvl9pPr>
          </a:lstStyle>
          <a:p>
            <a:pPr marL="0" marR="0" lvl="0" indent="0" algn="l" defTabSz="825500" rtl="0" eaLnBrk="1" fontAlgn="auto" latinLnBrk="0" hangingPunct="1">
              <a:lnSpc>
                <a:spcPct val="100000"/>
              </a:lnSpc>
              <a:spcBef>
                <a:spcPts val="0"/>
              </a:spcBef>
              <a:spcAft>
                <a:spcPts val="0"/>
              </a:spcAft>
              <a:buClrTx/>
              <a:buSzTx/>
              <a:buFontTx/>
              <a:buNone/>
              <a:defRPr/>
            </a:pPr>
            <a:r>
              <a:rPr kumimoji="0" lang="en-US" altLang="zh-CN" sz="38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Roboto Bold"/>
                <a:ea typeface="Roboto Bold"/>
                <a:cs typeface="Roboto Bold"/>
                <a:sym typeface="Roboto Bold"/>
              </a:rPr>
              <a:t>    </a:t>
            </a:r>
            <a:endParaRPr kumimoji="0" lang="zh-CN" altLang="en-US" sz="4400" b="1"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Roboto Bold"/>
              <a:ea typeface="Roboto Bold"/>
              <a:cs typeface="Roboto Bold"/>
              <a:sym typeface="Roboto Bold"/>
            </a:endParaRPr>
          </a:p>
        </p:txBody>
      </p:sp>
      <p:sp>
        <p:nvSpPr>
          <p:cNvPr id="24" name="Shape 75"/>
          <p:cNvSpPr/>
          <p:nvPr/>
        </p:nvSpPr>
        <p:spPr>
          <a:xfrm>
            <a:off x="1605915" y="4714240"/>
            <a:ext cx="5344160" cy="402590"/>
          </a:xfrm>
          <a:prstGeom prst="rect">
            <a:avLst/>
          </a:prstGeom>
          <a:ln w="3175">
            <a:miter lim="400000"/>
          </a:ln>
        </p:spPr>
        <p:txBody>
          <a:bodyPr lIns="38100" tIns="38100" rIns="38100" bIns="38100">
            <a:normAutofit/>
          </a:bodyPr>
          <a:lstStyle>
            <a:lvl1pPr>
              <a:defRPr sz="3200">
                <a:solidFill>
                  <a:srgbClr val="42C0A0"/>
                </a:solidFill>
                <a:latin typeface="Helvetica Neue Medium"/>
                <a:ea typeface="Helvetica Neue Medium"/>
                <a:cs typeface="Helvetica Neue Medium"/>
                <a:sym typeface="Helvetica Neue Medium"/>
              </a:defRPr>
            </a:lvl1pPr>
          </a:lstStyle>
          <a:p>
            <a:pPr marL="0" marR="0" lvl="0" indent="0" algn="ctr" defTabSz="914400" rtl="0" eaLnBrk="1" fontAlgn="auto" latinLnBrk="0" hangingPunct="0">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chemeClr val="tx1"/>
              </a:solidFill>
              <a:effectLst/>
              <a:uLnTx/>
              <a:uFillTx/>
              <a:latin typeface="Helvetica Neue Medium"/>
              <a:ea typeface="Helvetica Neue Medium"/>
              <a:cs typeface="+mn-ea"/>
              <a:sym typeface="+mn-lt"/>
            </a:endParaRPr>
          </a:p>
        </p:txBody>
      </p:sp>
      <p:sp>
        <p:nvSpPr>
          <p:cNvPr id="7" name="文本框 6"/>
          <p:cNvSpPr txBox="1"/>
          <p:nvPr/>
        </p:nvSpPr>
        <p:spPr>
          <a:xfrm>
            <a:off x="674559" y="578803"/>
            <a:ext cx="9144000" cy="706755"/>
          </a:xfrm>
          <a:prstGeom prst="rect">
            <a:avLst/>
          </a:prstGeom>
          <a:noFill/>
        </p:spPr>
        <p:txBody>
          <a:bodyPr wrap="square" rtlCol="0">
            <a:spAutoFit/>
          </a:bodyPr>
          <a:lstStyle/>
          <a:p>
            <a:r>
              <a:rPr sz="4000" dirty="0">
                <a:latin typeface="宋体" panose="02010600030101010101" pitchFamily="2" charset="-122"/>
                <a:ea typeface="宋体" panose="02010600030101010101" pitchFamily="2" charset="-122"/>
                <a:cs typeface="宋体" panose="02010600030101010101" pitchFamily="2" charset="-122"/>
                <a:sym typeface="+mn-ea"/>
              </a:rPr>
              <a:t>爱老助老服务平台</a:t>
            </a:r>
            <a:r>
              <a:rPr lang="en-US" altLang="zh-CN" sz="4000" dirty="0"/>
              <a:t>ppt</a:t>
            </a:r>
            <a:endParaRPr lang="en-US" altLang="zh-CN"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102" name="TextBox 5" hidden="1"/>
          <p:cNvSpPr txBox="1"/>
          <p:nvPr/>
        </p:nvSpPr>
        <p:spPr>
          <a:xfrm>
            <a:off x="1939925" y="1954213"/>
            <a:ext cx="19431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4103" name="矩形 6" hidden="1"/>
          <p:cNvSpPr/>
          <p:nvPr/>
        </p:nvSpPr>
        <p:spPr>
          <a:xfrm>
            <a:off x="1939925" y="3025775"/>
            <a:ext cx="1471613" cy="6461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4104" name="矩形 7" hidden="1"/>
          <p:cNvSpPr/>
          <p:nvPr/>
        </p:nvSpPr>
        <p:spPr>
          <a:xfrm>
            <a:off x="2011363" y="4240213"/>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4105" name="矩形 8" hidden="1"/>
          <p:cNvSpPr/>
          <p:nvPr/>
        </p:nvSpPr>
        <p:spPr>
          <a:xfrm>
            <a:off x="2011363" y="5526088"/>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4108" name="矩形 22"/>
          <p:cNvSpPr/>
          <p:nvPr/>
        </p:nvSpPr>
        <p:spPr>
          <a:xfrm>
            <a:off x="4071938" y="4383088"/>
            <a:ext cx="3098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zh-CN" altLang="en-US" sz="18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99522" y="195880"/>
            <a:ext cx="4953635" cy="706755"/>
          </a:xfrm>
          <a:prstGeom prst="rect">
            <a:avLst/>
          </a:prstGeom>
          <a:noFill/>
        </p:spPr>
        <p:txBody>
          <a:bodyPr wrap="square" rtlCol="0">
            <a:spAutoFit/>
          </a:bodyPr>
          <a:lstStyle/>
          <a:p>
            <a:r>
              <a:rPr lang="zh-CN" altLang="en-US" sz="4000" dirty="0"/>
              <a:t>摘要</a:t>
            </a:r>
            <a:endParaRPr lang="zh-CN" altLang="en-US" sz="4000" dirty="0"/>
          </a:p>
        </p:txBody>
      </p:sp>
      <p:sp>
        <p:nvSpPr>
          <p:cNvPr id="8" name="文本框 7"/>
          <p:cNvSpPr txBox="1"/>
          <p:nvPr/>
        </p:nvSpPr>
        <p:spPr>
          <a:xfrm>
            <a:off x="395605" y="1412875"/>
            <a:ext cx="7449185" cy="5631180"/>
          </a:xfrm>
          <a:prstGeom prst="rect">
            <a:avLst/>
          </a:prstGeom>
          <a:noFill/>
        </p:spPr>
        <p:txBody>
          <a:bodyPr wrap="square" rtlCol="0">
            <a:spAutoFit/>
          </a:bodyPr>
          <a:lstStyle/>
          <a:p>
            <a:r>
              <a:rPr sz="2000" dirty="0">
                <a:latin typeface="宋体" panose="02010600030101010101" pitchFamily="2" charset="-122"/>
                <a:ea typeface="宋体" panose="02010600030101010101" pitchFamily="2" charset="-122"/>
                <a:cs typeface="宋体" panose="02010600030101010101" pitchFamily="2" charset="-122"/>
              </a:rPr>
              <a:t>爱老助老服务平台的目的是让使用者可以更方便的将人、设备和场景更立体的连接在一起。能让用户以更科幻的方式使用产品，体验高科技时代带给人们的方便，同时也能让用户体会到与以往常规产品不同的体验风格。</a:t>
            </a:r>
            <a:endParaRPr sz="2000" dirty="0">
              <a:latin typeface="宋体" panose="02010600030101010101" pitchFamily="2" charset="-122"/>
              <a:ea typeface="宋体" panose="02010600030101010101" pitchFamily="2" charset="-122"/>
              <a:cs typeface="宋体" panose="02010600030101010101" pitchFamily="2" charset="-122"/>
            </a:endParaRPr>
          </a:p>
          <a:p>
            <a:r>
              <a:rPr sz="2000" dirty="0">
                <a:latin typeface="宋体" panose="02010600030101010101" pitchFamily="2" charset="-122"/>
                <a:ea typeface="宋体" panose="02010600030101010101" pitchFamily="2" charset="-122"/>
                <a:cs typeface="宋体" panose="02010600030101010101" pitchFamily="2" charset="-122"/>
              </a:rPr>
              <a:t>与安卓，iOS相比较起来，爱老助老服务平台在流畅性，续航能力，等方方面面都有着很大的优势。这就意味着爱老助老服务平台的设计可以比其他系统更为出色的能力，可以更高效的完成最新的健康科普、活动信息、服务信息、服务记录等功能。</a:t>
            </a:r>
            <a:endParaRPr sz="2000" dirty="0">
              <a:latin typeface="宋体" panose="02010600030101010101" pitchFamily="2" charset="-122"/>
              <a:ea typeface="宋体" panose="02010600030101010101" pitchFamily="2" charset="-122"/>
              <a:cs typeface="宋体" panose="02010600030101010101" pitchFamily="2" charset="-122"/>
            </a:endParaRPr>
          </a:p>
          <a:p>
            <a:r>
              <a:rPr sz="2000" dirty="0">
                <a:latin typeface="宋体" panose="02010600030101010101" pitchFamily="2" charset="-122"/>
                <a:ea typeface="宋体" panose="02010600030101010101" pitchFamily="2" charset="-122"/>
                <a:cs typeface="宋体" panose="02010600030101010101" pitchFamily="2" charset="-122"/>
              </a:rPr>
              <a:t>此系统设计主要采用的是JAVA语言来进行开发，采用Spring Boot框架技术，框架分为三层，分别是控制层Controller，业务处理层Service，持久层dao，能够采用多层次管理开发，对于各个模块设计制作有一定的安全性；数据库方面主要采用的是MySQL来进行开发，其特点是稳定性好，数据库存储容量大，处理能力快等优势；服务器采用的是Tomcat服务，能够提供稳固的运行平台，确保系统稳定运行。通过爱老助老服务平台来提升本课题的各项功能的工作效率，提供了一个多样功能，具有良好实用性的爱老助老服务平台。 </a:t>
            </a:r>
            <a:endParaRPr sz="2000" dirty="0">
              <a:latin typeface="宋体" panose="02010600030101010101" pitchFamily="2" charset="-122"/>
              <a:ea typeface="宋体" panose="02010600030101010101" pitchFamily="2" charset="-122"/>
              <a:cs typeface="宋体" panose="02010600030101010101" pitchFamily="2" charset="-122"/>
            </a:endParaRPr>
          </a:p>
          <a:p>
            <a:r>
              <a:rPr sz="2000" dirty="0">
                <a:latin typeface="宋体" panose="02010600030101010101" pitchFamily="2" charset="-122"/>
                <a:ea typeface="宋体" panose="02010600030101010101" pitchFamily="2" charset="-122"/>
                <a:cs typeface="宋体" panose="02010600030101010101" pitchFamily="2" charset="-122"/>
              </a:rPr>
              <a:t>关键词：爱老助老服务平台；Spring Boot框架；JAVA语言；</a:t>
            </a:r>
            <a:endParaRPr sz="20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5" hidden="1"/>
          <p:cNvSpPr txBox="1"/>
          <p:nvPr/>
        </p:nvSpPr>
        <p:spPr>
          <a:xfrm>
            <a:off x="1939925" y="1954213"/>
            <a:ext cx="19431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6148" name="矩形 6" hidden="1"/>
          <p:cNvSpPr/>
          <p:nvPr/>
        </p:nvSpPr>
        <p:spPr>
          <a:xfrm>
            <a:off x="1939925" y="3025775"/>
            <a:ext cx="1471613" cy="6461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6149" name="矩形 7" hidden="1"/>
          <p:cNvSpPr/>
          <p:nvPr/>
        </p:nvSpPr>
        <p:spPr>
          <a:xfrm>
            <a:off x="2011363" y="4240213"/>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6150" name="矩形 8" hidden="1"/>
          <p:cNvSpPr/>
          <p:nvPr/>
        </p:nvSpPr>
        <p:spPr>
          <a:xfrm>
            <a:off x="2011363" y="5526088"/>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32032" y="1092369"/>
            <a:ext cx="8640960" cy="3969385"/>
          </a:xfrm>
          <a:prstGeom prst="rect">
            <a:avLst/>
          </a:prstGeom>
          <a:noFill/>
        </p:spPr>
        <p:txBody>
          <a:bodyPr wrap="square" rtlCol="0">
            <a:spAutoFit/>
          </a:bodyPr>
          <a:lstStyle/>
          <a:p>
            <a:r>
              <a:rPr lang="zh-CN" altLang="en-US" dirty="0">
                <a:latin typeface="宋体" panose="02010600030101010101" pitchFamily="2" charset="-122"/>
                <a:cs typeface="宋体" panose="02010600030101010101" pitchFamily="2" charset="-122"/>
                <a:sym typeface="+mn-ea"/>
              </a:rPr>
              <a:t>   </a:t>
            </a:r>
            <a:endParaRPr lang="en-US" altLang="zh-CN" dirty="0" smtClean="0">
              <a:latin typeface="宋体" panose="02010600030101010101" pitchFamily="2" charset="-122"/>
              <a:cs typeface="宋体" panose="02010600030101010101" pitchFamily="2" charset="-122"/>
              <a:sym typeface="+mn-ea"/>
            </a:endParaRPr>
          </a:p>
          <a:p>
            <a:r>
              <a:rPr dirty="0">
                <a:latin typeface="宋体" panose="02010600030101010101" pitchFamily="2" charset="-122"/>
                <a:cs typeface="宋体" panose="02010600030101010101" pitchFamily="2" charset="-122"/>
                <a:sym typeface="+mn-ea"/>
              </a:rPr>
              <a:t>近些年来，随着电子科学技术的高速发展，计算机相关行业的发展创新。衍生出了各种各样方便快捷的电子设备。如手机，电脑等。这些电子设备功能强大，方便所有类型的人们使用。但这些年来，人们对手机，电脑等电子高科技产物的依赖和需求也越来越大。现在的人们已经不再满足于它们各式各样的基础功能，例如与他人通讯，上网了解信息等。人们现在更希望的是随着科技的发展，手机、电脑等高科技产品可以给自己带来更多方便快捷、简单实用的功能。同时也希望自己在使用的时候可以更轻松的掌握使用这些设备的技巧。同时，伴随着这些电子设备的出现，操作系统就显的尤为重要，电子设备各式各样功能的顺利运行都要依靠它的稳定运行。操作系统可以管理、控制计算机的硬件资源和软件资源，也是计算机最为基本的系统软件。人们所有能涉及到和使用到的软件运行几乎都离不开它。它就像人类的大脑一样，控制着计算机的各种设备。但同样，操作系统在发展时自身也会出现很多问题，同样的系统不能应用在所有的硬件设备上。这个问题对于大部分的电子科技受益者来说很陌生，处理起来很有困难。会让使用者不能在第一时间使用，因此会造成很多负面的影响。</a:t>
            </a:r>
            <a:endParaRPr dirty="0">
              <a:latin typeface="宋体" panose="02010600030101010101" pitchFamily="2" charset="-122"/>
              <a:cs typeface="宋体" panose="02010600030101010101" pitchFamily="2" charset="-122"/>
              <a:sym typeface="+mn-ea"/>
            </a:endParaRPr>
          </a:p>
        </p:txBody>
      </p:sp>
      <p:sp>
        <p:nvSpPr>
          <p:cNvPr id="7" name="文本框 6"/>
          <p:cNvSpPr txBox="1"/>
          <p:nvPr/>
        </p:nvSpPr>
        <p:spPr>
          <a:xfrm>
            <a:off x="84257" y="178735"/>
            <a:ext cx="4953635" cy="706755"/>
          </a:xfrm>
          <a:prstGeom prst="rect">
            <a:avLst/>
          </a:prstGeom>
          <a:noFill/>
        </p:spPr>
        <p:txBody>
          <a:bodyPr wrap="square" rtlCol="0">
            <a:spAutoFit/>
          </a:bodyPr>
          <a:p>
            <a:r>
              <a:rPr sz="4000" dirty="0">
                <a:latin typeface="宋体" panose="02010600030101010101" pitchFamily="2" charset="-122"/>
                <a:cs typeface="宋体" panose="02010600030101010101" pitchFamily="2" charset="-122"/>
                <a:sym typeface="+mn-ea"/>
              </a:rPr>
              <a:t>绪  论</a:t>
            </a:r>
            <a:endParaRPr sz="4000" dirty="0">
              <a:latin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TextBox 5" hidden="1"/>
          <p:cNvSpPr txBox="1"/>
          <p:nvPr/>
        </p:nvSpPr>
        <p:spPr>
          <a:xfrm>
            <a:off x="1939925" y="1954213"/>
            <a:ext cx="19431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2295" name="矩形 6" hidden="1"/>
          <p:cNvSpPr/>
          <p:nvPr/>
        </p:nvSpPr>
        <p:spPr>
          <a:xfrm>
            <a:off x="1939925" y="3025775"/>
            <a:ext cx="1471613" cy="6461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2296" name="矩形 7" hidden="1"/>
          <p:cNvSpPr/>
          <p:nvPr/>
        </p:nvSpPr>
        <p:spPr>
          <a:xfrm>
            <a:off x="2011363" y="4240213"/>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2297" name="矩形 8" hidden="1"/>
          <p:cNvSpPr/>
          <p:nvPr/>
        </p:nvSpPr>
        <p:spPr>
          <a:xfrm>
            <a:off x="2011363" y="5526088"/>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616769" y="1318682"/>
            <a:ext cx="7910011" cy="4154170"/>
          </a:xfrm>
          <a:prstGeom prst="rect">
            <a:avLst/>
          </a:prstGeom>
          <a:noFill/>
        </p:spPr>
        <p:txBody>
          <a:bodyPr wrap="square" rtlCol="0">
            <a:spAutoFit/>
          </a:bodyPr>
          <a:lstStyle/>
          <a:p>
            <a:endParaRPr lang="zh-CN" altLang="en-US" sz="2400" b="1" dirty="0"/>
          </a:p>
          <a:p>
            <a:r>
              <a:rPr sz="1600" dirty="0"/>
              <a:t> 伴随着科技的进步，时代的发展，越来越多的电子设备也随之出现在人们的眼前，在电子设备，软件技术成熟之前，人们可以选择使用电子设备，通过管理软件的帮助，找到最适合自己，最符合自己的管理方式。而爱老助老服务管理的普及也伴随着很多问题，有的管理软件不能适应用户使用的电子设备的系统，这会让部分使用者对这款软件彻底否认，会导致该系统失去预想的市场竞争力，面临淘汰。使用者更希望自己使用的爱老助老服务平台可以在完成最基本的功能需求的基础上变的更加稳定，流畅，并且没有任何因兼容性而引发的复杂问题。</a:t>
            </a:r>
            <a:endParaRPr sz="1600" dirty="0"/>
          </a:p>
          <a:p>
            <a:r>
              <a:rPr sz="1600" dirty="0"/>
              <a:t>而爱老助老服务平台的出现也渐渐让这种类似的问题有了一个相对明确的解决方案，爱老助老服务平台可以使软件的运行速度变的更快，并且可以同步全部的连接对象，可以确保项目的正确运行，同时，在如此信息化的时代里，使用者对软件的各项要求也越来越多，在如此广阔的信息量之下，使用者更希望自己使用的系统可以畅通无阻的浏览每个网页上的信息，可以全方位的了解健康科普、活动信息、服务信息、服务记录、健康信息、提醒功能等的特点，根据自己的需求，选择最适合自己的方案。并且让整个电子信息时代都注入了新鲜的血液，且能更好的流向各个领域，各个行业，为电子信息时代继续发光发热。</a:t>
            </a:r>
            <a:endParaRPr sz="1600" dirty="0"/>
          </a:p>
        </p:txBody>
      </p:sp>
      <p:sp>
        <p:nvSpPr>
          <p:cNvPr id="5" name="文本框 4"/>
          <p:cNvSpPr txBox="1"/>
          <p:nvPr/>
        </p:nvSpPr>
        <p:spPr>
          <a:xfrm>
            <a:off x="-1270635" y="6596479"/>
            <a:ext cx="7087870" cy="368300"/>
          </a:xfrm>
          <a:prstGeom prst="rect">
            <a:avLst/>
          </a:prstGeom>
          <a:noFill/>
        </p:spPr>
        <p:txBody>
          <a:bodyPr wrap="square" rtlCol="0">
            <a:spAutoFit/>
          </a:bodyPr>
          <a:lstStyle/>
          <a:p>
            <a:r>
              <a:rPr lang="en-US" altLang="zh-CN" dirty="0"/>
              <a:t>                         </a:t>
            </a:r>
            <a:endParaRPr lang="zh-CN" altLang="en-US" dirty="0"/>
          </a:p>
        </p:txBody>
      </p:sp>
      <p:sp>
        <p:nvSpPr>
          <p:cNvPr id="7" name="文本框 6"/>
          <p:cNvSpPr txBox="1"/>
          <p:nvPr/>
        </p:nvSpPr>
        <p:spPr>
          <a:xfrm>
            <a:off x="541655" y="227965"/>
            <a:ext cx="1605280" cy="521970"/>
          </a:xfrm>
          <a:prstGeom prst="rect">
            <a:avLst/>
          </a:prstGeom>
          <a:noFill/>
        </p:spPr>
        <p:txBody>
          <a:bodyPr wrap="none" rtlCol="0" anchor="t">
            <a:spAutoFit/>
          </a:bodyPr>
          <a:p>
            <a:pPr algn="l"/>
            <a:r>
              <a:rPr sz="2800" dirty="0">
                <a:sym typeface="+mn-ea"/>
              </a:rPr>
              <a:t>研究意义</a:t>
            </a:r>
            <a:endParaRPr sz="2800"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TextBox 5" hidden="1"/>
          <p:cNvSpPr txBox="1"/>
          <p:nvPr/>
        </p:nvSpPr>
        <p:spPr>
          <a:xfrm>
            <a:off x="1939925" y="1954213"/>
            <a:ext cx="19431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3321" name="矩形 6" hidden="1"/>
          <p:cNvSpPr/>
          <p:nvPr/>
        </p:nvSpPr>
        <p:spPr>
          <a:xfrm>
            <a:off x="1939925" y="3025775"/>
            <a:ext cx="1471613" cy="6461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3322" name="矩形 7" hidden="1"/>
          <p:cNvSpPr/>
          <p:nvPr/>
        </p:nvSpPr>
        <p:spPr>
          <a:xfrm>
            <a:off x="2011363" y="4240213"/>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13323" name="矩形 8" hidden="1"/>
          <p:cNvSpPr/>
          <p:nvPr/>
        </p:nvSpPr>
        <p:spPr>
          <a:xfrm>
            <a:off x="2011363" y="5526088"/>
            <a:ext cx="1471612" cy="6461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点击添加文本</a:t>
            </a:r>
            <a:endParaRPr lang="zh-CN" altLang="en-US" sz="18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647065" y="423545"/>
            <a:ext cx="6229350" cy="460375"/>
          </a:xfrm>
          <a:prstGeom prst="rect">
            <a:avLst/>
          </a:prstGeom>
          <a:noFill/>
        </p:spPr>
        <p:txBody>
          <a:bodyPr wrap="square" rtlCol="0">
            <a:spAutoFit/>
          </a:bodyPr>
          <a:lstStyle/>
          <a:p>
            <a:r>
              <a:rPr sz="2400" dirty="0">
                <a:latin typeface="黑体" panose="02010609060101010101" charset="-122"/>
                <a:ea typeface="黑体" panose="02010609060101010101" charset="-122"/>
                <a:cs typeface="黑体" panose="02010609060101010101" charset="-122"/>
              </a:rPr>
              <a:t>系统设计目的</a:t>
            </a:r>
            <a:endParaRPr sz="2400" dirty="0">
              <a:latin typeface="黑体" panose="02010609060101010101" charset="-122"/>
              <a:ea typeface="黑体" panose="02010609060101010101" charset="-122"/>
              <a:cs typeface="黑体" panose="02010609060101010101" charset="-122"/>
            </a:endParaRPr>
          </a:p>
        </p:txBody>
      </p:sp>
      <p:sp>
        <p:nvSpPr>
          <p:cNvPr id="100" name="文本框 99"/>
          <p:cNvSpPr txBox="1"/>
          <p:nvPr/>
        </p:nvSpPr>
        <p:spPr>
          <a:xfrm>
            <a:off x="313690" y="1457325"/>
            <a:ext cx="6798310" cy="2584450"/>
          </a:xfrm>
          <a:prstGeom prst="rect">
            <a:avLst/>
          </a:prstGeom>
          <a:noFill/>
          <a:ln w="9525">
            <a:noFill/>
          </a:ln>
        </p:spPr>
        <p:txBody>
          <a:bodyPr wrap="square">
            <a:spAutoFit/>
          </a:bodyPr>
          <a:p>
            <a:pPr marL="0" indent="0"/>
            <a:r>
              <a:rPr b="0">
                <a:ea typeface="宋体" panose="02010600030101010101" pitchFamily="2" charset="-122"/>
              </a:rPr>
              <a:t>为了适应电子信息时代和科技化时代的到来，并且应对今后可能越来越广泛的信息化的发展，需要做出了更加超前时代的功能应对。在这个高速发展的时代里，使用者对信息管理系统的要求也是越来越高，使用者都希望自己可以有拥有一款符合当今科技发展时代，且具有科技感，功能齐全的系统。希望可以只通过一个系统就可以轻松完成自己的需求，而不再因为信息的复杂而不知如何做出最佳选择。科技时代带给了人们轻松，立体的体验，而爱老助老服务平台就符合大家对科技时代的系统所拥有的期待，它可以提升用户的使用体验。</a:t>
            </a:r>
            <a:endParaRPr b="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332871"/>
            <a:ext cx="3866515" cy="460375"/>
          </a:xfrm>
          <a:prstGeom prst="rect">
            <a:avLst/>
          </a:prstGeom>
          <a:noFill/>
        </p:spPr>
        <p:txBody>
          <a:bodyPr wrap="square" rtlCol="0">
            <a:spAutoFit/>
          </a:bodyPr>
          <a:lstStyle/>
          <a:p>
            <a:r>
              <a:rPr sz="2400" b="1" dirty="0"/>
              <a:t>springboot框架</a:t>
            </a:r>
            <a:endParaRPr sz="2400" b="1" dirty="0"/>
          </a:p>
        </p:txBody>
      </p:sp>
      <p:sp>
        <p:nvSpPr>
          <p:cNvPr id="100" name="文本框 99"/>
          <p:cNvSpPr txBox="1"/>
          <p:nvPr/>
        </p:nvSpPr>
        <p:spPr>
          <a:xfrm>
            <a:off x="541020" y="1188720"/>
            <a:ext cx="6570980" cy="1014730"/>
          </a:xfrm>
          <a:prstGeom prst="rect">
            <a:avLst/>
          </a:prstGeom>
          <a:noFill/>
          <a:ln w="9525">
            <a:noFill/>
          </a:ln>
        </p:spPr>
        <p:txBody>
          <a:bodyPr wrap="square">
            <a:spAutoFit/>
          </a:bodyPr>
          <a:p>
            <a:pPr marL="0" indent="306070"/>
            <a:r>
              <a:rPr sz="2000" b="0">
                <a:solidFill>
                  <a:srgbClr val="000000"/>
                </a:solidFill>
                <a:latin typeface="Times New Roman" panose="02020603050405020304" charset="0"/>
                <a:ea typeface="宋体" panose="02010600030101010101" pitchFamily="2" charset="-122"/>
              </a:rPr>
              <a:t>该框架拥有自己独特的配置方式，网站开发人员不需要再进行大量重复的样板 式的配置工作，开箱即用，不会生成额外代码量，不需要进行XML文件的配置。</a:t>
            </a:r>
            <a:endParaRPr sz="2000" b="0">
              <a:solidFill>
                <a:srgbClr val="000000"/>
              </a:solidFill>
              <a:latin typeface="Times New Roman" panose="0202060305040502030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55930" y="189865"/>
            <a:ext cx="7143750" cy="1845310"/>
          </a:xfrm>
          <a:prstGeom prst="rect">
            <a:avLst/>
          </a:prstGeom>
          <a:noFill/>
        </p:spPr>
        <p:txBody>
          <a:bodyPr wrap="square" rtlCol="0">
            <a:spAutoFit/>
          </a:bodyPr>
          <a:lstStyle/>
          <a:p>
            <a:r>
              <a:rPr lang="en-US" sz="2400" b="1" dirty="0" smtClean="0">
                <a:latin typeface="+mn-ea"/>
                <a:ea typeface="+mn-ea"/>
              </a:rPr>
              <a:t>  </a:t>
            </a:r>
            <a:r>
              <a:rPr lang="zh-CN" altLang="en-US" sz="2400" b="1" dirty="0"/>
              <a:t>管理员登录界面</a:t>
            </a:r>
            <a:endParaRPr lang="zh-CN" altLang="en-US" sz="2400" b="1" dirty="0"/>
          </a:p>
          <a:p>
            <a:endParaRPr lang="en-US" altLang="zh-CN" b="1" dirty="0" smtClean="0"/>
          </a:p>
          <a:p>
            <a:endParaRPr lang="en-US" altLang="zh-CN" b="1" dirty="0"/>
          </a:p>
          <a:p>
            <a:endParaRPr lang="en-US" altLang="zh-CN" b="1" dirty="0" smtClean="0"/>
          </a:p>
          <a:p>
            <a:endParaRPr lang="zh-CN" altLang="en-US" b="1" dirty="0"/>
          </a:p>
          <a:p>
            <a:r>
              <a:rPr lang="zh-CN" altLang="en-US" dirty="0" smtClean="0">
                <a:solidFill>
                  <a:srgbClr val="FF0000"/>
                </a:solidFill>
              </a:rPr>
              <a:t> </a:t>
            </a:r>
            <a:endParaRPr lang="zh-CN" altLang="en-US" b="1" dirty="0"/>
          </a:p>
        </p:txBody>
      </p:sp>
      <p:pic>
        <p:nvPicPr>
          <p:cNvPr id="19" name="图片 47"/>
          <p:cNvPicPr>
            <a:picLocks noChangeAspect="1"/>
          </p:cNvPicPr>
          <p:nvPr>
            <p:custDataLst>
              <p:tags r:id="rId1"/>
            </p:custDataLst>
          </p:nvPr>
        </p:nvPicPr>
        <p:blipFill>
          <a:blip r:embed="rId2"/>
          <a:stretch>
            <a:fillRect/>
          </a:stretch>
        </p:blipFill>
        <p:spPr>
          <a:xfrm>
            <a:off x="38100" y="635000"/>
            <a:ext cx="9091930" cy="56718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9705" y="188595"/>
            <a:ext cx="4572000" cy="829945"/>
          </a:xfrm>
          <a:prstGeom prst="rect">
            <a:avLst/>
          </a:prstGeom>
          <a:noFill/>
        </p:spPr>
        <p:txBody>
          <a:bodyPr wrap="square" rtlCol="0" anchor="t">
            <a:spAutoFit/>
          </a:bodyPr>
          <a:p>
            <a:r>
              <a:rPr lang="zh-CN" altLang="en-US" sz="2400" b="1" dirty="0">
                <a:sym typeface="+mn-ea"/>
              </a:rPr>
              <a:t>管理员登录界面</a:t>
            </a:r>
            <a:endParaRPr lang="zh-CN" altLang="en-US" sz="2400" b="1" dirty="0"/>
          </a:p>
          <a:p>
            <a:endParaRPr lang="zh-CN" altLang="en-US" sz="2400" b="1" dirty="0"/>
          </a:p>
        </p:txBody>
      </p:sp>
      <p:pic>
        <p:nvPicPr>
          <p:cNvPr id="20" name="图片 48"/>
          <p:cNvPicPr>
            <a:picLocks noChangeAspect="1"/>
          </p:cNvPicPr>
          <p:nvPr>
            <p:custDataLst>
              <p:tags r:id="rId1"/>
            </p:custDataLst>
          </p:nvPr>
        </p:nvPicPr>
        <p:blipFill>
          <a:blip r:embed="rId2"/>
          <a:stretch>
            <a:fillRect/>
          </a:stretch>
        </p:blipFill>
        <p:spPr>
          <a:xfrm>
            <a:off x="35560" y="715010"/>
            <a:ext cx="9075420" cy="54463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331" y="332656"/>
            <a:ext cx="5883275" cy="460375"/>
          </a:xfrm>
          <a:prstGeom prst="rect">
            <a:avLst/>
          </a:prstGeom>
          <a:noFill/>
        </p:spPr>
        <p:txBody>
          <a:bodyPr wrap="square" rtlCol="0">
            <a:spAutoFit/>
          </a:bodyPr>
          <a:lstStyle/>
          <a:p>
            <a:r>
              <a:rPr lang="en-US" altLang="zh-CN" sz="2000" dirty="0"/>
              <a:t> </a:t>
            </a:r>
            <a:r>
              <a:rPr lang="zh-CN" altLang="en-US" sz="2400" b="1" dirty="0"/>
              <a:t>软件测试</a:t>
            </a:r>
            <a:endParaRPr lang="zh-CN" altLang="en-US" sz="2400" b="1" dirty="0"/>
          </a:p>
        </p:txBody>
      </p:sp>
      <p:sp>
        <p:nvSpPr>
          <p:cNvPr id="3" name="文本框 2"/>
          <p:cNvSpPr txBox="1"/>
          <p:nvPr/>
        </p:nvSpPr>
        <p:spPr>
          <a:xfrm>
            <a:off x="339727" y="1124744"/>
            <a:ext cx="8634730" cy="3415030"/>
          </a:xfrm>
          <a:prstGeom prst="rect">
            <a:avLst/>
          </a:prstGeom>
          <a:noFill/>
        </p:spPr>
        <p:txBody>
          <a:bodyPr wrap="square" rtlCol="0">
            <a:spAutoFit/>
          </a:bodyPr>
          <a:lstStyle/>
          <a:p>
            <a:r>
              <a:rPr lang="zh-CN" altLang="en-US" dirty="0"/>
              <a:t>软件测试（Software Testing）是指在设计基本完成后对软件的各项功能进行测试，检测其能否达到在系统设计之初对其的预期情况。预估系统上线后的情况，对出现问题的地方进行及时修改。软件测试作为系统设计的最终阶段，它的准确性往往影响了系统的最终使用感。因为软件是由数据、文档以及程序代码组成的，所以软件测试的对象就不仅仅是程序的本身，还有包括软件设计过程中形成的数据、文档等。但软件测试也存在着问题，软件测试注重的是软件设计的最终结果，其并没有关心整个系统在开发过程中发生的问题。软件测试必须假设和考虑在设计过程中发生的问题。并对软件测试中发现的问题进行回归测试。要更好的通过软件测试检测系统以更好的找出问题来提高系统的质量。软件测试要以最少的人力和经济消耗来完成系统的设计结尾工作。而且所有的测试都要以人为本，任何的测试都要考虑到用户使用的实际体验感，要确保用户有一个好的使用体验。要确保整个软件测试过程都按照原定的规则进行，以确保最终设计的系统的完整性和实用性。</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23850" y="188595"/>
            <a:ext cx="4572000" cy="425450"/>
          </a:xfrm>
          <a:prstGeom prst="rect">
            <a:avLst/>
          </a:prstGeom>
          <a:noFill/>
        </p:spPr>
        <p:txBody>
          <a:bodyPr wrap="square" rtlCol="0" anchor="t">
            <a:noAutofit/>
          </a:bodyPr>
          <a:p>
            <a:r>
              <a:rPr lang="zh-CN" altLang="en-US" sz="2400" b="1" dirty="0">
                <a:sym typeface="+mn-ea"/>
              </a:rPr>
              <a:t>结  论</a:t>
            </a:r>
            <a:endParaRPr lang="zh-CN" altLang="en-US" sz="2400" b="1" dirty="0">
              <a:sym typeface="+mn-ea"/>
            </a:endParaRPr>
          </a:p>
        </p:txBody>
      </p:sp>
      <p:sp>
        <p:nvSpPr>
          <p:cNvPr id="100" name="文本框 99"/>
          <p:cNvSpPr txBox="1"/>
          <p:nvPr/>
        </p:nvSpPr>
        <p:spPr>
          <a:xfrm>
            <a:off x="250825" y="890270"/>
            <a:ext cx="8740140" cy="3138170"/>
          </a:xfrm>
          <a:prstGeom prst="rect">
            <a:avLst/>
          </a:prstGeom>
          <a:noFill/>
          <a:ln w="9525">
            <a:noFill/>
          </a:ln>
        </p:spPr>
        <p:txBody>
          <a:bodyPr wrap="square">
            <a:spAutoFit/>
          </a:bodyPr>
          <a:p>
            <a:pPr marL="0" indent="304800"/>
            <a:r>
              <a:rPr lang="zh-CN" sz="1800" b="0">
                <a:solidFill>
                  <a:srgbClr val="000000"/>
                </a:solidFill>
                <a:latin typeface="Times New Roman" panose="02020603050405020304" charset="0"/>
                <a:ea typeface="宋体" panose="02010600030101010101" pitchFamily="2" charset="-122"/>
              </a:rPr>
              <a:t>爱老助老服务平台通过</a:t>
            </a:r>
            <a:r>
              <a:rPr lang="en-US" sz="1800" b="0">
                <a:solidFill>
                  <a:srgbClr val="000000"/>
                </a:solidFill>
                <a:latin typeface="Times New Roman" panose="02020603050405020304" charset="0"/>
                <a:ea typeface="宋体" panose="02010600030101010101" pitchFamily="2" charset="-122"/>
                <a:cs typeface="Times New Roman" panose="02020603050405020304" charset="0"/>
              </a:rPr>
              <a:t> </a:t>
            </a:r>
            <a:r>
              <a:rPr lang="en-US" sz="1800" b="0">
                <a:solidFill>
                  <a:srgbClr val="000000"/>
                </a:solidFill>
                <a:latin typeface="Times New Roman" panose="02020603050405020304" charset="0"/>
                <a:ea typeface="宋体" panose="02010600030101010101" pitchFamily="2" charset="-122"/>
              </a:rPr>
              <a:t>springboot</a:t>
            </a:r>
            <a:r>
              <a:rPr lang="zh-CN" sz="1800" b="0">
                <a:solidFill>
                  <a:srgbClr val="000000"/>
                </a:solidFill>
                <a:latin typeface="Times New Roman" panose="02020603050405020304" charset="0"/>
                <a:ea typeface="宋体" panose="02010600030101010101" pitchFamily="2" charset="-122"/>
              </a:rPr>
              <a:t>框架、</a:t>
            </a:r>
            <a:r>
              <a:rPr lang="en-US" sz="1800" b="0">
                <a:solidFill>
                  <a:srgbClr val="000000"/>
                </a:solidFill>
                <a:latin typeface="Times New Roman" panose="02020603050405020304" charset="0"/>
                <a:ea typeface="宋体" panose="02010600030101010101" pitchFamily="2" charset="-122"/>
              </a:rPr>
              <a:t>JAVA</a:t>
            </a:r>
            <a:r>
              <a:rPr lang="zh-CN" sz="1800" b="0">
                <a:solidFill>
                  <a:srgbClr val="000000"/>
                </a:solidFill>
                <a:latin typeface="Times New Roman" panose="02020603050405020304" charset="0"/>
                <a:ea typeface="宋体" panose="02010600030101010101" pitchFamily="2" charset="-122"/>
              </a:rPr>
              <a:t>语言等技术完成的。系统可以完成用户的基本需求，并且在测试中系统运行情况良好，没有出现异常。但是，还是有许多我需要学习和完善的地方。爱老助老服务平台实现了模块化连接，对应不同的平台可以进行针对性部署，可以进行全方位的覆盖。它实现了跨终端无缝协同体验。但碍于爱老助老服务平台刚进入市场发行不久，它的各项数据，功能还没有达到完美的地步。需要进一步的实际运行来完善有缺陷的地方。在这个信息化的时代大家都希望手里的任何一个电子设备都可以完成平时的常见功能，通过爱老助老服务平台的开发可以实现这一目标。爱老助老服务平台作为国产系统，它的发展前途十分明亮，未来也会拥有很广泛的市场，通过未来的长时间发展，爱老助老服务平台的软件开发一定会成为一种趋势，让中国的操作系统发展得到进一步的提升。</a:t>
            </a:r>
            <a:endParaRPr lang="zh-CN" altLang="en-US" sz="1800" b="0">
              <a:solidFill>
                <a:srgbClr val="000000"/>
              </a:solidFill>
              <a:latin typeface="Times New Roman" panose="0202060305040502030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560" y="260350"/>
            <a:ext cx="4572000" cy="460375"/>
          </a:xfrm>
          <a:prstGeom prst="rect">
            <a:avLst/>
          </a:prstGeom>
          <a:noFill/>
        </p:spPr>
        <p:txBody>
          <a:bodyPr wrap="square" rtlCol="0" anchor="t">
            <a:spAutoFit/>
          </a:bodyPr>
          <a:p>
            <a:r>
              <a:rPr lang="zh-CN" altLang="en-US" sz="2400" b="1" dirty="0">
                <a:sym typeface="+mn-ea"/>
              </a:rPr>
              <a:t>参考文献</a:t>
            </a:r>
            <a:endParaRPr lang="zh-CN" altLang="en-US" sz="2400" b="1" dirty="0">
              <a:sym typeface="+mn-ea"/>
            </a:endParaRPr>
          </a:p>
        </p:txBody>
      </p:sp>
      <p:sp>
        <p:nvSpPr>
          <p:cNvPr id="100" name="文本框 99"/>
          <p:cNvSpPr txBox="1"/>
          <p:nvPr/>
        </p:nvSpPr>
        <p:spPr>
          <a:xfrm>
            <a:off x="56515" y="782320"/>
            <a:ext cx="9032240" cy="4770120"/>
          </a:xfrm>
          <a:prstGeom prst="rect">
            <a:avLst/>
          </a:prstGeom>
          <a:noFill/>
          <a:ln w="9525">
            <a:noFill/>
          </a:ln>
        </p:spPr>
        <p:txBody>
          <a:bodyPr wrap="square">
            <a:noAutofit/>
          </a:bodyPr>
          <a:p>
            <a:pPr marL="266700" indent="-266700"/>
            <a:r>
              <a:rPr lang="en-US" sz="2000" b="0">
                <a:solidFill>
                  <a:srgbClr val="000000"/>
                </a:solidFill>
                <a:latin typeface="Times New Roman" panose="02020603050405020304" charset="0"/>
                <a:ea typeface="宋体" panose="02010600030101010101" pitchFamily="2" charset="-122"/>
              </a:rPr>
              <a:t>   [1] </a:t>
            </a:r>
            <a:r>
              <a:rPr lang="zh-CN" sz="2000" b="0">
                <a:solidFill>
                  <a:srgbClr val="000000"/>
                </a:solidFill>
                <a:ea typeface="宋体" panose="02010600030101010101" pitchFamily="2" charset="-122"/>
              </a:rPr>
              <a:t>张荣超</a:t>
            </a:r>
            <a:r>
              <a:rPr lang="en-US" sz="2000" b="0">
                <a:solidFill>
                  <a:srgbClr val="000000"/>
                </a:solidFill>
                <a:latin typeface="Times New Roman" panose="02020603050405020304" charset="0"/>
                <a:ea typeface="宋体" panose="02010600030101010101" pitchFamily="2" charset="-122"/>
              </a:rPr>
              <a:t>.</a:t>
            </a:r>
            <a:r>
              <a:rPr lang="zh-CN" sz="2000" b="0">
                <a:solidFill>
                  <a:srgbClr val="000000"/>
                </a:solidFill>
                <a:ea typeface="宋体" panose="02010600030101010101" pitchFamily="2" charset="-122"/>
              </a:rPr>
              <a:t>鸿蒙应用开发实战</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人民邮电出版社</a:t>
            </a:r>
            <a:r>
              <a:rPr lang="en-US" sz="2000" b="0">
                <a:solidFill>
                  <a:srgbClr val="000000"/>
                </a:solidFill>
                <a:latin typeface="Times New Roman" panose="02020603050405020304" charset="0"/>
                <a:ea typeface="宋体" panose="02010600030101010101" pitchFamily="2" charset="-122"/>
              </a:rPr>
              <a:t>.2021(1):34-70.[2] </a:t>
            </a:r>
            <a:r>
              <a:rPr lang="zh-CN" sz="2000" b="0">
                <a:solidFill>
                  <a:srgbClr val="000000"/>
                </a:solidFill>
                <a:ea typeface="宋体" panose="02010600030101010101" pitchFamily="2" charset="-122"/>
              </a:rPr>
              <a:t>董昱</a:t>
            </a:r>
            <a:r>
              <a:rPr lang="en-US" sz="2000" b="0">
                <a:solidFill>
                  <a:srgbClr val="000000"/>
                </a:solidFill>
                <a:latin typeface="Times New Roman" panose="02020603050405020304" charset="0"/>
                <a:ea typeface="宋体" panose="02010600030101010101" pitchFamily="2" charset="-122"/>
              </a:rPr>
              <a:t>.HarmonyOS</a:t>
            </a:r>
            <a:r>
              <a:rPr lang="zh-CN" sz="2000" b="0">
                <a:solidFill>
                  <a:srgbClr val="000000"/>
                </a:solidFill>
                <a:ea typeface="宋体" panose="02010600030101010101" pitchFamily="2" charset="-122"/>
              </a:rPr>
              <a:t>鸿蒙应用程序开发</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清华大学出版社</a:t>
            </a:r>
            <a:r>
              <a:rPr lang="en-US" sz="2000" b="0">
                <a:solidFill>
                  <a:srgbClr val="000000"/>
                </a:solidFill>
                <a:latin typeface="Times New Roman" panose="02020603050405020304" charset="0"/>
                <a:ea typeface="宋体" panose="02010600030101010101" pitchFamily="2" charset="-122"/>
              </a:rPr>
              <a:t>.2021:30-45.[3] HarmonyOSIoT</a:t>
            </a:r>
            <a:r>
              <a:rPr lang="zh-CN" sz="2000" b="0">
                <a:solidFill>
                  <a:srgbClr val="000000"/>
                </a:solidFill>
                <a:ea typeface="宋体" panose="02010600030101010101" pitchFamily="2" charset="-122"/>
              </a:rPr>
              <a:t>设备开发实战</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人民邮电出版社</a:t>
            </a:r>
            <a:r>
              <a:rPr lang="en-US" sz="2000" b="0">
                <a:solidFill>
                  <a:srgbClr val="000000"/>
                </a:solidFill>
                <a:latin typeface="Times New Roman" panose="02020603050405020304" charset="0"/>
                <a:ea typeface="宋体" panose="02010600030101010101" pitchFamily="2" charset="-122"/>
              </a:rPr>
              <a:t>,2021(1):40-56.[4] </a:t>
            </a:r>
            <a:r>
              <a:rPr lang="zh-CN" sz="2000" b="0">
                <a:solidFill>
                  <a:srgbClr val="000000"/>
                </a:solidFill>
                <a:ea typeface="宋体" panose="02010600030101010101" pitchFamily="2" charset="-122"/>
              </a:rPr>
              <a:t>鸿蒙操作系统开发入门经典</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人民邮电出版社</a:t>
            </a:r>
            <a:r>
              <a:rPr lang="en-US" sz="2000" b="0">
                <a:solidFill>
                  <a:srgbClr val="000000"/>
                </a:solidFill>
                <a:latin typeface="Times New Roman" panose="02020603050405020304" charset="0"/>
                <a:ea typeface="宋体" panose="02010600030101010101" pitchFamily="2" charset="-122"/>
              </a:rPr>
              <a:t>,2021(1)60-75.[5] </a:t>
            </a:r>
            <a:r>
              <a:rPr lang="zh-CN" sz="2000" b="0">
                <a:solidFill>
                  <a:srgbClr val="000000"/>
                </a:solidFill>
                <a:ea typeface="宋体" panose="02010600030101010101" pitchFamily="2" charset="-122"/>
              </a:rPr>
              <a:t>武延军</a:t>
            </a:r>
            <a:r>
              <a:rPr lang="en-US" sz="2000" b="0">
                <a:solidFill>
                  <a:srgbClr val="000000"/>
                </a:solidFill>
                <a:latin typeface="Times New Roman" panose="02020603050405020304" charset="0"/>
                <a:ea typeface="宋体" panose="02010600030101010101" pitchFamily="2" charset="-122"/>
              </a:rPr>
              <a:t>.</a:t>
            </a:r>
            <a:r>
              <a:rPr lang="zh-CN" sz="2000" b="0">
                <a:solidFill>
                  <a:srgbClr val="000000"/>
                </a:solidFill>
                <a:ea typeface="宋体" panose="02010600030101010101" pitchFamily="2" charset="-122"/>
              </a:rPr>
              <a:t>鸿蒙第三方组件库应用开发实战</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人民邮电出版社</a:t>
            </a:r>
            <a:r>
              <a:rPr lang="en-US" sz="2000" b="0">
                <a:solidFill>
                  <a:srgbClr val="000000"/>
                </a:solidFill>
                <a:latin typeface="Times New Roman" panose="02020603050405020304" charset="0"/>
                <a:ea typeface="宋体" panose="02010600030101010101" pitchFamily="2" charset="-122"/>
              </a:rPr>
              <a:t>,2021(12):40-78.[6] </a:t>
            </a:r>
            <a:r>
              <a:rPr lang="zh-CN" sz="2000" b="0">
                <a:solidFill>
                  <a:srgbClr val="000000"/>
                </a:solidFill>
                <a:ea typeface="宋体" panose="02010600030101010101" pitchFamily="2" charset="-122"/>
              </a:rPr>
              <a:t>华为软件技术有限公司</a:t>
            </a:r>
            <a:r>
              <a:rPr lang="en-US" sz="2000" b="0">
                <a:solidFill>
                  <a:srgbClr val="000000"/>
                </a:solidFill>
                <a:latin typeface="Times New Roman" panose="02020603050405020304" charset="0"/>
                <a:ea typeface="宋体" panose="02010600030101010101" pitchFamily="2" charset="-122"/>
              </a:rPr>
              <a:t>.</a:t>
            </a:r>
            <a:r>
              <a:rPr lang="zh-CN" sz="2000" b="0">
                <a:solidFill>
                  <a:srgbClr val="000000"/>
                </a:solidFill>
                <a:ea typeface="宋体" panose="02010600030101010101" pitchFamily="2" charset="-122"/>
              </a:rPr>
              <a:t>移动应用开发</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清华大学出版社</a:t>
            </a:r>
            <a:r>
              <a:rPr lang="en-US" sz="2000" b="0">
                <a:solidFill>
                  <a:srgbClr val="000000"/>
                </a:solidFill>
                <a:latin typeface="Times New Roman" panose="02020603050405020304" charset="0"/>
                <a:ea typeface="宋体" panose="02010600030101010101" pitchFamily="2" charset="-122"/>
              </a:rPr>
              <a:t>,2021:15-25.[7] </a:t>
            </a:r>
            <a:r>
              <a:rPr lang="zh-CN" sz="2000" b="0">
                <a:solidFill>
                  <a:srgbClr val="000000"/>
                </a:solidFill>
                <a:ea typeface="宋体" panose="02010600030101010101" pitchFamily="2" charset="-122"/>
              </a:rPr>
              <a:t>李亚玲</a:t>
            </a:r>
            <a:r>
              <a:rPr lang="en-US" sz="2000" b="0">
                <a:solidFill>
                  <a:srgbClr val="000000"/>
                </a:solidFill>
                <a:latin typeface="Times New Roman" panose="02020603050405020304" charset="0"/>
                <a:ea typeface="宋体" panose="02010600030101010101" pitchFamily="2" charset="-122"/>
              </a:rPr>
              <a:t>, </a:t>
            </a:r>
            <a:r>
              <a:rPr lang="zh-CN" sz="2000" b="0">
                <a:solidFill>
                  <a:srgbClr val="000000"/>
                </a:solidFill>
                <a:ea typeface="宋体" panose="02010600030101010101" pitchFamily="2" charset="-122"/>
              </a:rPr>
              <a:t>韩奥</a:t>
            </a:r>
            <a:r>
              <a:rPr lang="en-US" sz="2000" b="0">
                <a:solidFill>
                  <a:srgbClr val="000000"/>
                </a:solidFill>
                <a:latin typeface="Times New Roman" panose="02020603050405020304" charset="0"/>
                <a:ea typeface="宋体" panose="02010600030101010101" pitchFamily="2" charset="-122"/>
              </a:rPr>
              <a:t>, </a:t>
            </a:r>
            <a:r>
              <a:rPr lang="zh-CN" sz="2000" b="0">
                <a:solidFill>
                  <a:srgbClr val="000000"/>
                </a:solidFill>
                <a:ea typeface="宋体" panose="02010600030101010101" pitchFamily="2" charset="-122"/>
              </a:rPr>
              <a:t>鲁建丽</a:t>
            </a:r>
            <a:r>
              <a:rPr lang="en-US" sz="2000" b="0">
                <a:solidFill>
                  <a:srgbClr val="000000"/>
                </a:solidFill>
                <a:latin typeface="Times New Roman" panose="02020603050405020304" charset="0"/>
                <a:ea typeface="宋体" panose="02010600030101010101" pitchFamily="2" charset="-122"/>
              </a:rPr>
              <a:t>, </a:t>
            </a:r>
            <a:r>
              <a:rPr lang="zh-CN" sz="2000" b="0">
                <a:solidFill>
                  <a:srgbClr val="000000"/>
                </a:solidFill>
                <a:ea typeface="宋体" panose="02010600030101010101" pitchFamily="2" charset="-122"/>
              </a:rPr>
              <a:t>张航</a:t>
            </a:r>
            <a:r>
              <a:rPr lang="en-US" sz="2000" b="0">
                <a:solidFill>
                  <a:srgbClr val="000000"/>
                </a:solidFill>
                <a:latin typeface="Times New Roman" panose="02020603050405020304" charset="0"/>
                <a:ea typeface="宋体" panose="02010600030101010101" pitchFamily="2" charset="-122"/>
              </a:rPr>
              <a:t>.</a:t>
            </a:r>
            <a:r>
              <a:rPr lang="zh-CN" sz="2000" b="0">
                <a:solidFill>
                  <a:srgbClr val="000000"/>
                </a:solidFill>
                <a:ea typeface="宋体" panose="02010600030101010101" pitchFamily="2" charset="-122"/>
              </a:rPr>
              <a:t>软件测试初探</a:t>
            </a:r>
            <a:r>
              <a:rPr lang="en-US" sz="2000" b="0">
                <a:solidFill>
                  <a:srgbClr val="000000"/>
                </a:solidFill>
                <a:latin typeface="Times New Roman" panose="02020603050405020304" charset="0"/>
                <a:ea typeface="宋体" panose="02010600030101010101" pitchFamily="2" charset="-122"/>
              </a:rPr>
              <a:t>[J]. </a:t>
            </a:r>
            <a:r>
              <a:rPr lang="zh-CN" sz="2000" b="0">
                <a:solidFill>
                  <a:srgbClr val="000000"/>
                </a:solidFill>
                <a:ea typeface="宋体" panose="02010600030101010101" pitchFamily="2" charset="-122"/>
              </a:rPr>
              <a:t>数码世界</a:t>
            </a:r>
            <a:r>
              <a:rPr lang="en-US" sz="2000" b="0">
                <a:solidFill>
                  <a:srgbClr val="000000"/>
                </a:solidFill>
                <a:latin typeface="Times New Roman" panose="02020603050405020304" charset="0"/>
                <a:ea typeface="宋体" panose="02010600030101010101" pitchFamily="2" charset="-122"/>
              </a:rPr>
              <a:t>, 2020: 68-69.[8] </a:t>
            </a:r>
            <a:r>
              <a:rPr lang="zh-CN" sz="2000" b="0">
                <a:solidFill>
                  <a:srgbClr val="000000"/>
                </a:solidFill>
                <a:ea typeface="宋体" panose="02010600030101010101" pitchFamily="2" charset="-122"/>
              </a:rPr>
              <a:t>郑明秋</a:t>
            </a:r>
            <a:r>
              <a:rPr lang="en-US" sz="2000" b="0">
                <a:solidFill>
                  <a:srgbClr val="000000"/>
                </a:solidFill>
                <a:latin typeface="Times New Roman" panose="02020603050405020304" charset="0"/>
                <a:ea typeface="宋体" panose="02010600030101010101" pitchFamily="2" charset="-122"/>
              </a:rPr>
              <a:t>, </a:t>
            </a:r>
            <a:r>
              <a:rPr lang="zh-CN" sz="2000" b="0">
                <a:solidFill>
                  <a:srgbClr val="000000"/>
                </a:solidFill>
                <a:ea typeface="宋体" panose="02010600030101010101" pitchFamily="2" charset="-122"/>
              </a:rPr>
              <a:t>蒙连超</a:t>
            </a:r>
            <a:r>
              <a:rPr lang="en-US" sz="2000" b="0">
                <a:solidFill>
                  <a:srgbClr val="000000"/>
                </a:solidFill>
                <a:latin typeface="Times New Roman" panose="02020603050405020304" charset="0"/>
                <a:ea typeface="宋体" panose="02010600030101010101" pitchFamily="2" charset="-122"/>
              </a:rPr>
              <a:t>, </a:t>
            </a:r>
            <a:r>
              <a:rPr lang="zh-CN" sz="2000" b="0">
                <a:solidFill>
                  <a:srgbClr val="000000"/>
                </a:solidFill>
                <a:ea typeface="宋体" panose="02010600030101010101" pitchFamily="2" charset="-122"/>
              </a:rPr>
              <a:t>赵海侠</a:t>
            </a:r>
            <a:r>
              <a:rPr lang="en-US" sz="2000" b="0">
                <a:solidFill>
                  <a:srgbClr val="000000"/>
                </a:solidFill>
                <a:latin typeface="Times New Roman" panose="02020603050405020304" charset="0"/>
                <a:ea typeface="宋体" panose="02010600030101010101" pitchFamily="2" charset="-122"/>
              </a:rPr>
              <a:t>. MySQL</a:t>
            </a:r>
            <a:r>
              <a:rPr lang="zh-CN" sz="2000" b="0">
                <a:solidFill>
                  <a:srgbClr val="000000"/>
                </a:solidFill>
                <a:ea typeface="宋体" panose="02010600030101010101" pitchFamily="2" charset="-122"/>
              </a:rPr>
              <a:t>数据库实用教程</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北京理工大学出版社</a:t>
            </a:r>
            <a:r>
              <a:rPr lang="en-US" sz="2000" b="0">
                <a:solidFill>
                  <a:srgbClr val="000000"/>
                </a:solidFill>
                <a:latin typeface="Times New Roman" panose="02020603050405020304" charset="0"/>
                <a:ea typeface="宋体" panose="02010600030101010101" pitchFamily="2" charset="-122"/>
              </a:rPr>
              <a:t>, 2019: 4.[9] </a:t>
            </a:r>
            <a:r>
              <a:rPr lang="zh-CN" sz="2000" b="0">
                <a:solidFill>
                  <a:srgbClr val="000000"/>
                </a:solidFill>
                <a:ea typeface="宋体" panose="02010600030101010101" pitchFamily="2" charset="-122"/>
              </a:rPr>
              <a:t>胡巧儿</a:t>
            </a:r>
            <a:r>
              <a:rPr lang="en-US" sz="2000" b="0">
                <a:solidFill>
                  <a:srgbClr val="000000"/>
                </a:solidFill>
                <a:latin typeface="Times New Roman" panose="02020603050405020304" charset="0"/>
                <a:ea typeface="宋体" panose="02010600030101010101" pitchFamily="2" charset="-122"/>
              </a:rPr>
              <a:t>.MySQL</a:t>
            </a:r>
            <a:r>
              <a:rPr lang="zh-CN" sz="2000" b="0">
                <a:solidFill>
                  <a:srgbClr val="000000"/>
                </a:solidFill>
                <a:ea typeface="宋体" panose="02010600030101010101" pitchFamily="2" charset="-122"/>
              </a:rPr>
              <a:t>数据库原理与应用项目化教程微课版</a:t>
            </a:r>
            <a:r>
              <a:rPr lang="en-US" sz="2000" b="0">
                <a:solidFill>
                  <a:srgbClr val="000000"/>
                </a:solidFill>
                <a:latin typeface="Times New Roman" panose="02020603050405020304" charset="0"/>
                <a:ea typeface="宋体" panose="02010600030101010101" pitchFamily="2" charset="-122"/>
              </a:rPr>
              <a:t>[M].</a:t>
            </a:r>
            <a:r>
              <a:rPr lang="zh-CN" sz="2000" b="0">
                <a:solidFill>
                  <a:srgbClr val="000000"/>
                </a:solidFill>
                <a:ea typeface="宋体" panose="02010600030101010101" pitchFamily="2" charset="-122"/>
              </a:rPr>
              <a:t>电子工业出版社</a:t>
            </a:r>
            <a:r>
              <a:rPr lang="en-US" sz="2000" b="0">
                <a:solidFill>
                  <a:srgbClr val="000000"/>
                </a:solidFill>
                <a:latin typeface="Times New Roman" panose="02020603050405020304" charset="0"/>
                <a:ea typeface="宋体" panose="02010600030101010101" pitchFamily="2" charset="-122"/>
              </a:rPr>
              <a:t>.2021:74-79.[10] </a:t>
            </a:r>
            <a:r>
              <a:rPr lang="zh-CN" sz="2000" b="0">
                <a:solidFill>
                  <a:srgbClr val="000000"/>
                </a:solidFill>
                <a:ea typeface="宋体" panose="02010600030101010101" pitchFamily="2" charset="-122"/>
              </a:rPr>
              <a:t>周小娟</a:t>
            </a:r>
            <a:r>
              <a:rPr lang="en-US" sz="2000" b="0">
                <a:solidFill>
                  <a:srgbClr val="000000"/>
                </a:solidFill>
                <a:latin typeface="Times New Roman" panose="02020603050405020304" charset="0"/>
                <a:ea typeface="宋体" panose="02010600030101010101" pitchFamily="2" charset="-122"/>
              </a:rPr>
              <a:t>.</a:t>
            </a:r>
            <a:r>
              <a:rPr lang="zh-CN" sz="2000" b="0">
                <a:solidFill>
                  <a:srgbClr val="000000"/>
                </a:solidFill>
                <a:ea typeface="宋体" panose="02010600030101010101" pitchFamily="2" charset="-122"/>
              </a:rPr>
              <a:t>基于</a:t>
            </a:r>
            <a:r>
              <a:rPr lang="en-US" sz="2000" b="0">
                <a:solidFill>
                  <a:srgbClr val="000000"/>
                </a:solidFill>
                <a:latin typeface="Times New Roman" panose="02020603050405020304" charset="0"/>
                <a:ea typeface="宋体" panose="02010600030101010101" pitchFamily="2" charset="-122"/>
              </a:rPr>
              <a:t>springboot</a:t>
            </a:r>
            <a:r>
              <a:rPr lang="zh-CN" sz="2000" b="0">
                <a:solidFill>
                  <a:srgbClr val="000000"/>
                </a:solidFill>
                <a:ea typeface="宋体" panose="02010600030101010101" pitchFamily="2" charset="-122"/>
              </a:rPr>
              <a:t>框架与</a:t>
            </a:r>
            <a:r>
              <a:rPr lang="en-US" sz="2000" b="0">
                <a:solidFill>
                  <a:srgbClr val="000000"/>
                </a:solidFill>
                <a:latin typeface="Times New Roman" panose="02020603050405020304" charset="0"/>
                <a:ea typeface="宋体" panose="02010600030101010101" pitchFamily="2" charset="-122"/>
              </a:rPr>
              <a:t>XML</a:t>
            </a:r>
            <a:r>
              <a:rPr lang="zh-CN" sz="2000" b="0">
                <a:solidFill>
                  <a:srgbClr val="000000"/>
                </a:solidFill>
                <a:ea typeface="宋体" panose="02010600030101010101" pitchFamily="2" charset="-122"/>
              </a:rPr>
              <a:t>技术的工业锅炉智能化监控系统设计</a:t>
            </a:r>
            <a:r>
              <a:rPr lang="en-US" sz="2000" b="0">
                <a:solidFill>
                  <a:srgbClr val="000000"/>
                </a:solidFill>
                <a:latin typeface="Times New Roman" panose="02020603050405020304" charset="0"/>
                <a:ea typeface="宋体" panose="02010600030101010101" pitchFamily="2" charset="-122"/>
              </a:rPr>
              <a:t>[J].</a:t>
            </a:r>
            <a:r>
              <a:rPr lang="zh-CN" sz="2000" b="0">
                <a:solidFill>
                  <a:srgbClr val="000000"/>
                </a:solidFill>
                <a:ea typeface="宋体" panose="02010600030101010101" pitchFamily="2" charset="-122"/>
              </a:rPr>
              <a:t>工业加热</a:t>
            </a:r>
            <a:r>
              <a:rPr lang="en-US" sz="2000" b="0">
                <a:solidFill>
                  <a:srgbClr val="000000"/>
                </a:solidFill>
                <a:latin typeface="Times New Roman" panose="02020603050405020304" charset="0"/>
                <a:ea typeface="宋体" panose="02010600030101010101" pitchFamily="2" charset="-122"/>
              </a:rPr>
              <a:t>,2020,49(12):31-34.</a:t>
            </a:r>
            <a:endParaRPr lang="en-US" altLang="en-US" sz="2000" b="0">
              <a:solidFill>
                <a:srgbClr val="000000"/>
              </a:solidFill>
              <a:latin typeface="Times New Roman" panose="0202060305040502030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2860" y="1119505"/>
            <a:ext cx="7483475" cy="3384550"/>
          </a:xfrm>
          <a:prstGeom prst="rect">
            <a:avLst/>
          </a:prstGeom>
          <a:noFill/>
        </p:spPr>
        <p:txBody>
          <a:bodyPr wrap="square" rtlCol="0">
            <a:spAutoFit/>
            <a:scene3d>
              <a:camera prst="orthographicFront"/>
              <a:lightRig rig="threePt" dir="t"/>
            </a:scene3d>
          </a:bodyPr>
          <a:lstStyle/>
          <a:p>
            <a:r>
              <a:rPr lang="zh-CN" altLang="en-US" sz="8000" i="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ea"/>
                <a:ea typeface="+mn-ea"/>
                <a:cs typeface="+mn-ea"/>
              </a:rPr>
              <a:t>感谢观看 </a:t>
            </a:r>
            <a:r>
              <a:rPr lang="en-US" altLang="zh-CN" sz="8000" i="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ea"/>
                <a:ea typeface="+mn-ea"/>
                <a:cs typeface="+mn-ea"/>
              </a:rPr>
              <a:t>!</a:t>
            </a:r>
            <a:endParaRPr lang="zh-CN" altLang="en-US" sz="80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ea"/>
              <a:ea typeface="+mn-ea"/>
              <a:cs typeface="+mn-ea"/>
            </a:endParaRPr>
          </a:p>
          <a:p>
            <a:endParaRPr lang="zh-CN" altLang="en-US">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zh-CN" altLang="en-US">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zh-CN" altLang="en-US">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r>
              <a:rPr lang="en-US" altLang="zh-CN" sz="8000" i="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ea"/>
                <a:ea typeface="+mn-ea"/>
              </a:rPr>
              <a:t>THANK  YOU !</a:t>
            </a:r>
            <a:endParaRPr lang="en-US" altLang="zh-CN" sz="8000" i="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ea"/>
              <a:ea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1ec99a27-3fa6-4274-8d8a-a63251efee82"/>
  <p:tag name="COMMONDATA" val="eyJoZGlkIjoiMGE5NzBjMjI3YTFmYWRmODM5OWI5M2IxYmJhMWVlODkifQ=="/>
  <p:tag name="commondata" val="eyJoZGlkIjoiNDdlMDJkMWY0NzMwOTMyNjM3YWM1MjE4YWZjMjliZmIifQ=="/>
</p:tagLst>
</file>

<file path=ppt/theme/_rels/theme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主题1">
  <a:themeElements>
    <a:clrScheme name="肥皂">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肥皂">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肥皂">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3316</Words>
  <Application>WPS 演示</Application>
  <PresentationFormat>全屏显示(4:3)</PresentationFormat>
  <Paragraphs>101</Paragraphs>
  <Slides>12</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宋体</vt:lpstr>
      <vt:lpstr>Wingdings</vt:lpstr>
      <vt:lpstr>Century Gothic</vt:lpstr>
      <vt:lpstr>Calibri</vt:lpstr>
      <vt:lpstr>Garamond</vt:lpstr>
      <vt:lpstr>Roboto Bold</vt:lpstr>
      <vt:lpstr>Segoe Print</vt:lpstr>
      <vt:lpstr>Roboto Regular</vt:lpstr>
      <vt:lpstr>Helvetica Neue Medium</vt:lpstr>
      <vt:lpstr>微软雅黑</vt:lpstr>
      <vt:lpstr>黑体</vt:lpstr>
      <vt:lpstr>Times New Roman</vt:lpstr>
      <vt:lpstr>Arial Unicode MS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bj</dc:creator>
  <cp:lastModifiedBy>WPS_1697458545</cp:lastModifiedBy>
  <cp:revision>353</cp:revision>
  <dcterms:created xsi:type="dcterms:W3CDTF">2013-10-30T09:04:00Z</dcterms:created>
  <dcterms:modified xsi:type="dcterms:W3CDTF">2024-01-10T09:11:46Z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ECA5155B0FCD49FB9B19A74770BC9D13</vt:lpwstr>
  </property>
</Properties>
</file>